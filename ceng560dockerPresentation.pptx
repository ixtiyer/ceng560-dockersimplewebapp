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4"/>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en-GB"/>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117124233" name="Başlık Yer Tutucusu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tr-TR"/>
          </a:p>
        </p:txBody>
      </p:sp>
      <p:sp>
        <p:nvSpPr>
          <p:cNvPr id="1542250853" name="Veri Yer Tutucusu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tr-TR"/>
              <a:t>10/30/2013</a:t>
            </a:fld>
            <a:endParaRPr lang="tr-TR"/>
          </a:p>
        </p:txBody>
      </p:sp>
      <p:sp>
        <p:nvSpPr>
          <p:cNvPr id="1190694332" name="Slayt Resim Yer Tutucusu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tr-TR"/>
          </a:p>
        </p:txBody>
      </p:sp>
      <p:sp>
        <p:nvSpPr>
          <p:cNvPr id="1381455516" name="Notlar Yer Tutucu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tr-TR"/>
              <a:t>Asıl metin stillerini düzenlemek için tıklatın</a:t>
            </a:r>
            <a:endParaRPr/>
          </a:p>
          <a:p>
            <a:pPr lvl="1">
              <a:defRPr/>
            </a:pPr>
            <a:r>
              <a:rPr lang="tr-TR"/>
              <a:t>İkinci düzey</a:t>
            </a:r>
            <a:endParaRPr/>
          </a:p>
          <a:p>
            <a:pPr lvl="2">
              <a:defRPr/>
            </a:pPr>
            <a:r>
              <a:rPr lang="tr-TR"/>
              <a:t>Üçüncü düzey</a:t>
            </a:r>
            <a:endParaRPr/>
          </a:p>
          <a:p>
            <a:pPr lvl="3">
              <a:defRPr/>
            </a:pPr>
            <a:r>
              <a:rPr lang="tr-TR"/>
              <a:t>Dördüncü düzey</a:t>
            </a:r>
            <a:endParaRPr/>
          </a:p>
          <a:p>
            <a:pPr lvl="4">
              <a:defRPr/>
            </a:pPr>
            <a:r>
              <a:rPr lang="tr-TR"/>
              <a:t>Beşinci düzey</a:t>
            </a:r>
            <a:endParaRPr lang="tr-TR"/>
          </a:p>
        </p:txBody>
      </p:sp>
      <p:sp>
        <p:nvSpPr>
          <p:cNvPr id="1469023234" name="Altbilgi Yer Tutucusu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tr-TR"/>
          </a:p>
        </p:txBody>
      </p:sp>
      <p:sp>
        <p:nvSpPr>
          <p:cNvPr id="1342458063" name="Slayt Numarası Yer Tutucusu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tr-TR"/>
              <a:t>‹#›</a:t>
            </a:fld>
            <a:endParaRPr lang="tr-T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1569816" name="Slayt Resmi Yer Tutucusu 1"/>
          <p:cNvSpPr>
            <a:spLocks noChangeAspect="1" noGrp="1" noRot="1"/>
          </p:cNvSpPr>
          <p:nvPr>
            <p:ph type="sldImg"/>
          </p:nvPr>
        </p:nvSpPr>
        <p:spPr bwMode="auto">
          <a:xfrm>
            <a:off x="685800" y="1143000"/>
            <a:ext cx="5486400" cy="3086100"/>
          </a:xfrm>
        </p:spPr>
      </p:sp>
      <p:sp>
        <p:nvSpPr>
          <p:cNvPr id="1829460899" name="Notlar Yer Tutucu 2"/>
          <p:cNvSpPr>
            <a:spLocks noGrp="1"/>
          </p:cNvSpPr>
          <p:nvPr>
            <p:ph type="body" idx="1"/>
          </p:nvPr>
        </p:nvSpPr>
        <p:spPr bwMode="auto"/>
        <p:txBody>
          <a:bodyPr/>
          <a:lstStyle/>
          <a:p>
            <a:pPr>
              <a:defRPr/>
            </a:pPr>
            <a:endParaRPr lang="tr-TR">
              <a:latin typeface="Arial"/>
              <a:cs typeface="Arial"/>
            </a:endParaRPr>
          </a:p>
        </p:txBody>
      </p:sp>
      <p:sp>
        <p:nvSpPr>
          <p:cNvPr id="672093567" name="Slayt Numarası Yer Tutucu 3"/>
          <p:cNvSpPr>
            <a:spLocks noGrp="1"/>
          </p:cNvSpPr>
          <p:nvPr>
            <p:ph type="sldNum" sz="quarter" idx="10"/>
          </p:nvPr>
        </p:nvSpPr>
        <p:spPr bwMode="auto"/>
        <p:txBody>
          <a:bodyPr/>
          <a:lstStyle/>
          <a:p>
            <a:pPr>
              <a:defRPr/>
            </a:pPr>
            <a:fld id="{2E6999B8-B6B4-4561-A3CD-BBCDAB9FC9D9}" type="slidenum">
              <a:rPr lang="tr-TR"/>
              <a:t>1</a:t>
            </a:fld>
            <a:endParaRPr lang="tr-T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F608078-4CB0-F9A9-D034-92F9070254A8}"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E6B6B51-DC60-D6CB-FDF9-FD79738B488B}"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67D2AB-EFAC-39F3-5B26-95D804E60F8E}"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834914C-486F-433A-E22E-0557B8416E40}"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D98FB10-E68C-BC10-84AB-429A8AA9726C}"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FA1ED70-E99A-C505-E1EB-9590D88211F1}"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1860844" name="Slide Image Placeholder 1"/>
          <p:cNvSpPr>
            <a:spLocks noChangeAspect="1" noGrp="1" noRot="1"/>
          </p:cNvSpPr>
          <p:nvPr>
            <p:ph type="sldImg"/>
          </p:nvPr>
        </p:nvSpPr>
        <p:spPr bwMode="auto"/>
      </p:sp>
      <p:sp>
        <p:nvSpPr>
          <p:cNvPr id="1580155062" name="Notes Placeholder 2"/>
          <p:cNvSpPr>
            <a:spLocks noGrp="1"/>
          </p:cNvSpPr>
          <p:nvPr>
            <p:ph type="body" idx="1"/>
          </p:nvPr>
        </p:nvSpPr>
        <p:spPr bwMode="auto"/>
        <p:txBody>
          <a:bodyPr/>
          <a:lstStyle/>
          <a:p>
            <a:pPr>
              <a:defRPr/>
            </a:pPr>
            <a:endParaRPr/>
          </a:p>
        </p:txBody>
      </p:sp>
      <p:sp>
        <p:nvSpPr>
          <p:cNvPr id="1670135794" name="Slide Number Placeholder 3"/>
          <p:cNvSpPr>
            <a:spLocks noGrp="1"/>
          </p:cNvSpPr>
          <p:nvPr>
            <p:ph type="sldNum" sz="quarter" idx="10"/>
          </p:nvPr>
        </p:nvSpPr>
        <p:spPr bwMode="auto"/>
        <p:txBody>
          <a:bodyPr/>
          <a:lstStyle/>
          <a:p>
            <a:pPr>
              <a:defRPr/>
            </a:pPr>
            <a:fld id="{B852C0DB-DF65-24D8-9540-682B6065461A}"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9388965" name="Slide Image Placeholder 1"/>
          <p:cNvSpPr>
            <a:spLocks noChangeAspect="1" noGrp="1" noRot="1"/>
          </p:cNvSpPr>
          <p:nvPr>
            <p:ph type="sldImg"/>
          </p:nvPr>
        </p:nvSpPr>
        <p:spPr bwMode="auto"/>
      </p:sp>
      <p:sp>
        <p:nvSpPr>
          <p:cNvPr id="1767745217" name="Notes Placeholder 2"/>
          <p:cNvSpPr>
            <a:spLocks noGrp="1"/>
          </p:cNvSpPr>
          <p:nvPr>
            <p:ph type="body" idx="1"/>
          </p:nvPr>
        </p:nvSpPr>
        <p:spPr bwMode="auto"/>
        <p:txBody>
          <a:bodyPr/>
          <a:lstStyle/>
          <a:p>
            <a:pPr>
              <a:defRPr/>
            </a:pPr>
            <a:endParaRPr/>
          </a:p>
        </p:txBody>
      </p:sp>
      <p:sp>
        <p:nvSpPr>
          <p:cNvPr id="1689609614" name="Slide Number Placeholder 3"/>
          <p:cNvSpPr>
            <a:spLocks noGrp="1"/>
          </p:cNvSpPr>
          <p:nvPr>
            <p:ph type="sldNum" sz="quarter" idx="10"/>
          </p:nvPr>
        </p:nvSpPr>
        <p:spPr bwMode="auto"/>
        <p:txBody>
          <a:bodyPr/>
          <a:lstStyle/>
          <a:p>
            <a:pPr>
              <a:defRPr/>
            </a:pPr>
            <a:fld id="{72A7599C-AB8A-A232-09D2-7556947F3BB3}"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356D1A-237D-0F51-2221-A09CE47B4F86}"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Başlık Slaydı">
    <p:spTree>
      <p:nvGrpSpPr>
        <p:cNvPr id="1" name=""/>
        <p:cNvGrpSpPr/>
        <p:nvPr/>
      </p:nvGrpSpPr>
      <p:grpSpPr bwMode="auto">
        <a:xfrm>
          <a:off x="0" y="0"/>
          <a:ext cx="0" cy="0"/>
          <a:chOff x="0" y="0"/>
          <a:chExt cx="0" cy="0"/>
        </a:xfrm>
      </p:grpSpPr>
      <p:sp>
        <p:nvSpPr>
          <p:cNvPr id="1620448996"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tr-TR"/>
              <a:t>Asıl başlık stili için tıklatın</a:t>
            </a:r>
            <a:endParaRPr lang="tr-TR"/>
          </a:p>
        </p:txBody>
      </p:sp>
      <p:sp>
        <p:nvSpPr>
          <p:cNvPr id="1193030584" name="Alt Başlık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tr-TR"/>
              <a:t>Asıl alt başlık stilini düzenlemek için tıklatın</a:t>
            </a:r>
            <a:endParaRPr lang="tr-TR"/>
          </a:p>
        </p:txBody>
      </p:sp>
      <p:sp>
        <p:nvSpPr>
          <p:cNvPr id="388429489" name="Veri Yer Tutucusu 3"/>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584889036" name="Altbilgi Yer Tutucusu 4"/>
          <p:cNvSpPr>
            <a:spLocks noGrp="1"/>
          </p:cNvSpPr>
          <p:nvPr>
            <p:ph type="ftr" sz="quarter" idx="11"/>
          </p:nvPr>
        </p:nvSpPr>
        <p:spPr bwMode="auto"/>
        <p:txBody>
          <a:bodyPr/>
          <a:lstStyle/>
          <a:p>
            <a:pPr>
              <a:defRPr/>
            </a:pPr>
            <a:endParaRPr lang="tr-TR"/>
          </a:p>
        </p:txBody>
      </p:sp>
      <p:sp>
        <p:nvSpPr>
          <p:cNvPr id="1849308831" name="Slayt Numarası Yer Tutucusu 5"/>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Başlık ve İçerik">
    <p:spTree>
      <p:nvGrpSpPr>
        <p:cNvPr id="1" name=""/>
        <p:cNvGrpSpPr/>
        <p:nvPr/>
      </p:nvGrpSpPr>
      <p:grpSpPr bwMode="auto">
        <a:xfrm>
          <a:off x="0" y="0"/>
          <a:ext cx="0" cy="0"/>
          <a:chOff x="0" y="0"/>
          <a:chExt cx="0" cy="0"/>
        </a:xfrm>
      </p:grpSpPr>
      <p:sp>
        <p:nvSpPr>
          <p:cNvPr id="486074219" name="Başlık 1"/>
          <p:cNvSpPr>
            <a:spLocks noGrp="1"/>
          </p:cNvSpPr>
          <p:nvPr>
            <p:ph type="title"/>
          </p:nvPr>
        </p:nvSpPr>
        <p:spPr bwMode="auto"/>
        <p:txBody>
          <a:bodyPr/>
          <a:lstStyle/>
          <a:p>
            <a:pPr>
              <a:defRPr/>
            </a:pPr>
            <a:r>
              <a:rPr lang="tr-TR"/>
              <a:t>Asıl başlık stili için tıklatın</a:t>
            </a:r>
            <a:endParaRPr lang="tr-TR"/>
          </a:p>
        </p:txBody>
      </p:sp>
      <p:sp>
        <p:nvSpPr>
          <p:cNvPr id="1937258889" name="İçerik Yer Tutucusu 2"/>
          <p:cNvSpPr>
            <a:spLocks noGrp="1"/>
          </p:cNvSpPr>
          <p:nvPr>
            <p:ph idx="1"/>
          </p:nvPr>
        </p:nvSpPr>
        <p:spPr bwMode="auto"/>
        <p:txBody>
          <a:bodyPr/>
          <a:lstStyle/>
          <a:p>
            <a:pPr lvl="0">
              <a:defRPr/>
            </a:pPr>
            <a:r>
              <a:rPr lang="tr-TR"/>
              <a:t>Asıl metin stillerini düzenlemek için tıklatın</a:t>
            </a:r>
            <a:endParaRPr/>
          </a:p>
          <a:p>
            <a:pPr lvl="1">
              <a:defRPr/>
            </a:pPr>
            <a:r>
              <a:rPr lang="tr-TR"/>
              <a:t>İkinci düzey</a:t>
            </a:r>
            <a:endParaRPr/>
          </a:p>
          <a:p>
            <a:pPr lvl="2">
              <a:defRPr/>
            </a:pPr>
            <a:r>
              <a:rPr lang="tr-TR"/>
              <a:t>Üçüncü düzey</a:t>
            </a:r>
            <a:endParaRPr/>
          </a:p>
          <a:p>
            <a:pPr lvl="3">
              <a:defRPr/>
            </a:pPr>
            <a:r>
              <a:rPr lang="tr-TR"/>
              <a:t>Dördüncü düzey</a:t>
            </a:r>
            <a:endParaRPr/>
          </a:p>
          <a:p>
            <a:pPr lvl="4">
              <a:defRPr/>
            </a:pPr>
            <a:r>
              <a:rPr lang="tr-TR"/>
              <a:t>Beşinci düzey</a:t>
            </a:r>
            <a:endParaRPr lang="tr-TR"/>
          </a:p>
        </p:txBody>
      </p:sp>
      <p:sp>
        <p:nvSpPr>
          <p:cNvPr id="225856732" name="Veri Yer Tutucusu 3"/>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381463581" name="Altbilgi Yer Tutucusu 4"/>
          <p:cNvSpPr>
            <a:spLocks noGrp="1"/>
          </p:cNvSpPr>
          <p:nvPr>
            <p:ph type="ftr" sz="quarter" idx="11"/>
          </p:nvPr>
        </p:nvSpPr>
        <p:spPr bwMode="auto"/>
        <p:txBody>
          <a:bodyPr/>
          <a:lstStyle/>
          <a:p>
            <a:pPr>
              <a:defRPr/>
            </a:pPr>
            <a:endParaRPr lang="tr-TR"/>
          </a:p>
        </p:txBody>
      </p:sp>
      <p:sp>
        <p:nvSpPr>
          <p:cNvPr id="807298542" name="Slayt Numarası Yer Tutucusu 5"/>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Bölüm Üstbilgisi">
    <p:spTree>
      <p:nvGrpSpPr>
        <p:cNvPr id="1" name=""/>
        <p:cNvGrpSpPr/>
        <p:nvPr/>
      </p:nvGrpSpPr>
      <p:grpSpPr bwMode="auto">
        <a:xfrm>
          <a:off x="0" y="0"/>
          <a:ext cx="0" cy="0"/>
          <a:chOff x="0" y="0"/>
          <a:chExt cx="0" cy="0"/>
        </a:xfrm>
      </p:grpSpPr>
      <p:sp>
        <p:nvSpPr>
          <p:cNvPr id="657092659" name="Başlık 1"/>
          <p:cNvSpPr>
            <a:spLocks noGrp="1"/>
          </p:cNvSpPr>
          <p:nvPr>
            <p:ph type="title"/>
          </p:nvPr>
        </p:nvSpPr>
        <p:spPr bwMode="auto">
          <a:xfrm>
            <a:off x="831850" y="1709738"/>
            <a:ext cx="10515600" cy="2852737"/>
          </a:xfrm>
        </p:spPr>
        <p:txBody>
          <a:bodyPr anchor="b"/>
          <a:lstStyle>
            <a:lvl1pPr>
              <a:defRPr sz="6000"/>
            </a:lvl1pPr>
          </a:lstStyle>
          <a:p>
            <a:pPr>
              <a:defRPr/>
            </a:pPr>
            <a:r>
              <a:rPr lang="tr-TR"/>
              <a:t>Asıl başlık stili için tıklatın</a:t>
            </a:r>
            <a:endParaRPr lang="tr-TR"/>
          </a:p>
        </p:txBody>
      </p:sp>
      <p:sp>
        <p:nvSpPr>
          <p:cNvPr id="962645903" name="Metin Yer Tutucusu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tr-TR"/>
              <a:t>Asıl metin stillerini düzenlemek için tıklatın</a:t>
            </a:r>
            <a:endParaRPr/>
          </a:p>
        </p:txBody>
      </p:sp>
      <p:sp>
        <p:nvSpPr>
          <p:cNvPr id="765597468" name="Veri Yer Tutucusu 3"/>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657904546" name="Altbilgi Yer Tutucusu 4"/>
          <p:cNvSpPr>
            <a:spLocks noGrp="1"/>
          </p:cNvSpPr>
          <p:nvPr>
            <p:ph type="ftr" sz="quarter" idx="11"/>
          </p:nvPr>
        </p:nvSpPr>
        <p:spPr bwMode="auto"/>
        <p:txBody>
          <a:bodyPr/>
          <a:lstStyle/>
          <a:p>
            <a:pPr>
              <a:defRPr/>
            </a:pPr>
            <a:endParaRPr lang="tr-TR"/>
          </a:p>
        </p:txBody>
      </p:sp>
      <p:sp>
        <p:nvSpPr>
          <p:cNvPr id="287227607" name="Slayt Numarası Yer Tutucusu 5"/>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İki İçerik">
    <p:spTree>
      <p:nvGrpSpPr>
        <p:cNvPr id="1" name=""/>
        <p:cNvGrpSpPr/>
        <p:nvPr/>
      </p:nvGrpSpPr>
      <p:grpSpPr bwMode="auto">
        <a:xfrm>
          <a:off x="0" y="0"/>
          <a:ext cx="0" cy="0"/>
          <a:chOff x="0" y="0"/>
          <a:chExt cx="0" cy="0"/>
        </a:xfrm>
      </p:grpSpPr>
      <p:sp>
        <p:nvSpPr>
          <p:cNvPr id="546203980" name="Başlık 1"/>
          <p:cNvSpPr>
            <a:spLocks noGrp="1"/>
          </p:cNvSpPr>
          <p:nvPr>
            <p:ph type="title"/>
          </p:nvPr>
        </p:nvSpPr>
        <p:spPr bwMode="auto"/>
        <p:txBody>
          <a:bodyPr/>
          <a:lstStyle/>
          <a:p>
            <a:pPr>
              <a:defRPr/>
            </a:pPr>
            <a:r>
              <a:rPr lang="tr-TR"/>
              <a:t>Asıl başlık stili için tıklatın</a:t>
            </a:r>
            <a:endParaRPr lang="tr-TR"/>
          </a:p>
        </p:txBody>
      </p:sp>
      <p:sp>
        <p:nvSpPr>
          <p:cNvPr id="260552660" name="İçerik Yer Tutucusu 2"/>
          <p:cNvSpPr>
            <a:spLocks noGrp="1"/>
          </p:cNvSpPr>
          <p:nvPr>
            <p:ph sz="half" idx="1"/>
          </p:nvPr>
        </p:nvSpPr>
        <p:spPr bwMode="auto">
          <a:xfrm>
            <a:off x="838200" y="1825625"/>
            <a:ext cx="5181600" cy="4351338"/>
          </a:xfrm>
        </p:spPr>
        <p:txBody>
          <a:bodyPr/>
          <a:lstStyle/>
          <a:p>
            <a:pPr lvl="0">
              <a:defRPr/>
            </a:pPr>
            <a:r>
              <a:rPr lang="tr-TR"/>
              <a:t>Asıl metin stillerini düzenlemek için tıklatın</a:t>
            </a:r>
            <a:endParaRPr/>
          </a:p>
          <a:p>
            <a:pPr lvl="1">
              <a:defRPr/>
            </a:pPr>
            <a:r>
              <a:rPr lang="tr-TR"/>
              <a:t>Second level</a:t>
            </a:r>
            <a:endParaRPr/>
          </a:p>
          <a:p>
            <a:pPr lvl="2">
              <a:defRPr/>
            </a:pPr>
            <a:r>
              <a:rPr lang="tr-TR"/>
              <a:t>Third level</a:t>
            </a:r>
            <a:endParaRPr/>
          </a:p>
          <a:p>
            <a:pPr lvl="3">
              <a:defRPr/>
            </a:pPr>
            <a:r>
              <a:rPr lang="tr-TR"/>
              <a:t>Fourth level</a:t>
            </a:r>
            <a:endParaRPr/>
          </a:p>
          <a:p>
            <a:pPr lvl="4">
              <a:defRPr/>
            </a:pPr>
            <a:r>
              <a:rPr lang="tr-TR"/>
              <a:t>Fifth level</a:t>
            </a:r>
            <a:endParaRPr lang="tr-TR"/>
          </a:p>
        </p:txBody>
      </p:sp>
      <p:sp>
        <p:nvSpPr>
          <p:cNvPr id="689292124" name="İçerik Yer Tutucusu 3"/>
          <p:cNvSpPr>
            <a:spLocks noGrp="1"/>
          </p:cNvSpPr>
          <p:nvPr>
            <p:ph sz="half" idx="2"/>
          </p:nvPr>
        </p:nvSpPr>
        <p:spPr bwMode="auto">
          <a:xfrm>
            <a:off x="6172200" y="1825625"/>
            <a:ext cx="5181600" cy="4351338"/>
          </a:xfrm>
        </p:spPr>
        <p:txBody>
          <a:bodyPr/>
          <a:lstStyle/>
          <a:p>
            <a:pPr lvl="0">
              <a:defRPr/>
            </a:pPr>
            <a:r>
              <a:rPr lang="tr-TR"/>
              <a:t>Asıl metin stillerini düzenlemek için tıklatın</a:t>
            </a:r>
            <a:endParaRPr/>
          </a:p>
          <a:p>
            <a:pPr lvl="1">
              <a:defRPr/>
            </a:pPr>
            <a:r>
              <a:rPr lang="tr-TR"/>
              <a:t>İkinci düzey</a:t>
            </a:r>
            <a:endParaRPr/>
          </a:p>
          <a:p>
            <a:pPr lvl="2">
              <a:defRPr/>
            </a:pPr>
            <a:r>
              <a:rPr lang="tr-TR"/>
              <a:t>Üçüncü düzey</a:t>
            </a:r>
            <a:endParaRPr/>
          </a:p>
          <a:p>
            <a:pPr lvl="3">
              <a:defRPr/>
            </a:pPr>
            <a:r>
              <a:rPr lang="tr-TR"/>
              <a:t>Dördüncü düzey</a:t>
            </a:r>
            <a:endParaRPr/>
          </a:p>
          <a:p>
            <a:pPr lvl="4">
              <a:defRPr/>
            </a:pPr>
            <a:r>
              <a:rPr lang="tr-TR"/>
              <a:t>Beşinci düzey</a:t>
            </a:r>
            <a:endParaRPr lang="tr-TR"/>
          </a:p>
        </p:txBody>
      </p:sp>
      <p:sp>
        <p:nvSpPr>
          <p:cNvPr id="1293721207" name="Veri Yer Tutucusu 4"/>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1988911314" name="Altbilgi Yer Tutucusu 5"/>
          <p:cNvSpPr>
            <a:spLocks noGrp="1"/>
          </p:cNvSpPr>
          <p:nvPr>
            <p:ph type="ftr" sz="quarter" idx="11"/>
          </p:nvPr>
        </p:nvSpPr>
        <p:spPr bwMode="auto"/>
        <p:txBody>
          <a:bodyPr/>
          <a:lstStyle/>
          <a:p>
            <a:pPr>
              <a:defRPr/>
            </a:pPr>
            <a:endParaRPr lang="tr-TR"/>
          </a:p>
        </p:txBody>
      </p:sp>
      <p:sp>
        <p:nvSpPr>
          <p:cNvPr id="2007043932" name="Slayt Numarası Yer Tutucusu 6"/>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Karşılaştırma">
    <p:spTree>
      <p:nvGrpSpPr>
        <p:cNvPr id="1" name=""/>
        <p:cNvGrpSpPr/>
        <p:nvPr/>
      </p:nvGrpSpPr>
      <p:grpSpPr bwMode="auto">
        <a:xfrm>
          <a:off x="0" y="0"/>
          <a:ext cx="0" cy="0"/>
          <a:chOff x="0" y="0"/>
          <a:chExt cx="0" cy="0"/>
        </a:xfrm>
      </p:grpSpPr>
      <p:sp>
        <p:nvSpPr>
          <p:cNvPr id="1135767007" name="Başlık 1"/>
          <p:cNvSpPr>
            <a:spLocks noGrp="1"/>
          </p:cNvSpPr>
          <p:nvPr>
            <p:ph type="title"/>
          </p:nvPr>
        </p:nvSpPr>
        <p:spPr bwMode="auto">
          <a:xfrm>
            <a:off x="839788" y="365125"/>
            <a:ext cx="10515600" cy="1325563"/>
          </a:xfrm>
        </p:spPr>
        <p:txBody>
          <a:bodyPr/>
          <a:lstStyle/>
          <a:p>
            <a:pPr>
              <a:defRPr/>
            </a:pPr>
            <a:r>
              <a:rPr lang="tr-TR"/>
              <a:t>Asıl başlık stili için tıklatın</a:t>
            </a:r>
            <a:endParaRPr lang="tr-TR"/>
          </a:p>
        </p:txBody>
      </p:sp>
      <p:sp>
        <p:nvSpPr>
          <p:cNvPr id="1500251823" name="Metin Yer Tutucusu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tr-TR"/>
              <a:t>Asıl metin stillerini düzenlemek için tıklatın</a:t>
            </a:r>
            <a:endParaRPr/>
          </a:p>
        </p:txBody>
      </p:sp>
      <p:sp>
        <p:nvSpPr>
          <p:cNvPr id="1052629031" name="İçerik Yer Tutucusu 3"/>
          <p:cNvSpPr>
            <a:spLocks noGrp="1"/>
          </p:cNvSpPr>
          <p:nvPr>
            <p:ph sz="half" idx="2"/>
          </p:nvPr>
        </p:nvSpPr>
        <p:spPr bwMode="auto">
          <a:xfrm>
            <a:off x="839788" y="2505074"/>
            <a:ext cx="5157787" cy="3684588"/>
          </a:xfrm>
        </p:spPr>
        <p:txBody>
          <a:bodyPr/>
          <a:lstStyle/>
          <a:p>
            <a:pPr lvl="0">
              <a:defRPr/>
            </a:pPr>
            <a:r>
              <a:rPr lang="tr-TR"/>
              <a:t>Asıl metin stillerini düzenlemek için tıklatın</a:t>
            </a:r>
            <a:endParaRPr/>
          </a:p>
          <a:p>
            <a:pPr lvl="1">
              <a:defRPr/>
            </a:pPr>
            <a:r>
              <a:rPr lang="tr-TR"/>
              <a:t>İkinci düzey</a:t>
            </a:r>
            <a:endParaRPr/>
          </a:p>
          <a:p>
            <a:pPr lvl="2">
              <a:defRPr/>
            </a:pPr>
            <a:r>
              <a:rPr lang="tr-TR"/>
              <a:t>Üçüncü düzey</a:t>
            </a:r>
            <a:endParaRPr/>
          </a:p>
          <a:p>
            <a:pPr lvl="3">
              <a:defRPr/>
            </a:pPr>
            <a:r>
              <a:rPr lang="tr-TR"/>
              <a:t>Dördüncü düzey</a:t>
            </a:r>
            <a:endParaRPr/>
          </a:p>
          <a:p>
            <a:pPr lvl="4">
              <a:defRPr/>
            </a:pPr>
            <a:r>
              <a:rPr lang="tr-TR"/>
              <a:t>Beşinci düzey</a:t>
            </a:r>
            <a:endParaRPr lang="tr-TR"/>
          </a:p>
        </p:txBody>
      </p:sp>
      <p:sp>
        <p:nvSpPr>
          <p:cNvPr id="635897355" name="Metin Yer Tutucusu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tr-TR"/>
              <a:t>Asıl metin stillerini düzenlemek için tıklatın</a:t>
            </a:r>
            <a:endParaRPr/>
          </a:p>
        </p:txBody>
      </p:sp>
      <p:sp>
        <p:nvSpPr>
          <p:cNvPr id="914260381" name="İçerik Yer Tutucusu 5"/>
          <p:cNvSpPr>
            <a:spLocks noGrp="1"/>
          </p:cNvSpPr>
          <p:nvPr>
            <p:ph sz="quarter" idx="4"/>
          </p:nvPr>
        </p:nvSpPr>
        <p:spPr bwMode="auto">
          <a:xfrm>
            <a:off x="6172200" y="2505074"/>
            <a:ext cx="5183188" cy="3684588"/>
          </a:xfrm>
        </p:spPr>
        <p:txBody>
          <a:bodyPr/>
          <a:lstStyle/>
          <a:p>
            <a:pPr lvl="0">
              <a:defRPr/>
            </a:pPr>
            <a:r>
              <a:rPr lang="tr-TR"/>
              <a:t>Asıl metin stillerini düzenlemek için tıklatın</a:t>
            </a:r>
            <a:endParaRPr/>
          </a:p>
          <a:p>
            <a:pPr lvl="1">
              <a:defRPr/>
            </a:pPr>
            <a:r>
              <a:rPr lang="tr-TR"/>
              <a:t>İkinci düzey</a:t>
            </a:r>
            <a:endParaRPr/>
          </a:p>
          <a:p>
            <a:pPr lvl="2">
              <a:defRPr/>
            </a:pPr>
            <a:r>
              <a:rPr lang="tr-TR"/>
              <a:t>Üçüncü düzey</a:t>
            </a:r>
            <a:endParaRPr/>
          </a:p>
          <a:p>
            <a:pPr lvl="3">
              <a:defRPr/>
            </a:pPr>
            <a:r>
              <a:rPr lang="tr-TR"/>
              <a:t>Dördüncü düzey</a:t>
            </a:r>
            <a:endParaRPr/>
          </a:p>
          <a:p>
            <a:pPr lvl="4">
              <a:defRPr/>
            </a:pPr>
            <a:r>
              <a:rPr lang="tr-TR"/>
              <a:t>Beşinci düzey</a:t>
            </a:r>
            <a:endParaRPr lang="tr-TR"/>
          </a:p>
        </p:txBody>
      </p:sp>
      <p:sp>
        <p:nvSpPr>
          <p:cNvPr id="2039687186" name="Veri Yer Tutucusu 6"/>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650321112" name="Altbilgi Yer Tutucusu 7"/>
          <p:cNvSpPr>
            <a:spLocks noGrp="1"/>
          </p:cNvSpPr>
          <p:nvPr>
            <p:ph type="ftr" sz="quarter" idx="11"/>
          </p:nvPr>
        </p:nvSpPr>
        <p:spPr bwMode="auto"/>
        <p:txBody>
          <a:bodyPr/>
          <a:lstStyle/>
          <a:p>
            <a:pPr>
              <a:defRPr/>
            </a:pPr>
            <a:endParaRPr lang="tr-TR"/>
          </a:p>
        </p:txBody>
      </p:sp>
      <p:sp>
        <p:nvSpPr>
          <p:cNvPr id="46779335" name="Slayt Numarası Yer Tutucusu 8"/>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Yalnızca Başlık">
    <p:spTree>
      <p:nvGrpSpPr>
        <p:cNvPr id="1" name=""/>
        <p:cNvGrpSpPr/>
        <p:nvPr/>
      </p:nvGrpSpPr>
      <p:grpSpPr bwMode="auto">
        <a:xfrm>
          <a:off x="0" y="0"/>
          <a:ext cx="0" cy="0"/>
          <a:chOff x="0" y="0"/>
          <a:chExt cx="0" cy="0"/>
        </a:xfrm>
      </p:grpSpPr>
      <p:sp>
        <p:nvSpPr>
          <p:cNvPr id="761003935" name="Başlık 1"/>
          <p:cNvSpPr>
            <a:spLocks noGrp="1"/>
          </p:cNvSpPr>
          <p:nvPr>
            <p:ph type="title"/>
          </p:nvPr>
        </p:nvSpPr>
        <p:spPr bwMode="auto"/>
        <p:txBody>
          <a:bodyPr/>
          <a:lstStyle/>
          <a:p>
            <a:pPr>
              <a:defRPr/>
            </a:pPr>
            <a:r>
              <a:rPr lang="tr-TR"/>
              <a:t>Asıl başlık stili için tıklatın</a:t>
            </a:r>
            <a:endParaRPr lang="tr-TR"/>
          </a:p>
        </p:txBody>
      </p:sp>
      <p:sp>
        <p:nvSpPr>
          <p:cNvPr id="549370031" name="Veri Yer Tutucusu 2"/>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167713403" name="Altbilgi Yer Tutucusu 3"/>
          <p:cNvSpPr>
            <a:spLocks noGrp="1"/>
          </p:cNvSpPr>
          <p:nvPr>
            <p:ph type="ftr" sz="quarter" idx="11"/>
          </p:nvPr>
        </p:nvSpPr>
        <p:spPr bwMode="auto"/>
        <p:txBody>
          <a:bodyPr/>
          <a:lstStyle/>
          <a:p>
            <a:pPr>
              <a:defRPr/>
            </a:pPr>
            <a:endParaRPr lang="tr-TR"/>
          </a:p>
        </p:txBody>
      </p:sp>
      <p:sp>
        <p:nvSpPr>
          <p:cNvPr id="1816155626" name="Slayt Numarası Yer Tutucusu 4"/>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oş">
    <p:spTree>
      <p:nvGrpSpPr>
        <p:cNvPr id="1" name=""/>
        <p:cNvGrpSpPr/>
        <p:nvPr/>
      </p:nvGrpSpPr>
      <p:grpSpPr bwMode="auto">
        <a:xfrm>
          <a:off x="0" y="0"/>
          <a:ext cx="0" cy="0"/>
          <a:chOff x="0" y="0"/>
          <a:chExt cx="0" cy="0"/>
        </a:xfrm>
      </p:grpSpPr>
      <p:sp>
        <p:nvSpPr>
          <p:cNvPr id="530734407" name="Veri Yer Tutucusu 1"/>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1759283350" name="Altbilgi Yer Tutucusu 2"/>
          <p:cNvSpPr>
            <a:spLocks noGrp="1"/>
          </p:cNvSpPr>
          <p:nvPr>
            <p:ph type="ftr" sz="quarter" idx="11"/>
          </p:nvPr>
        </p:nvSpPr>
        <p:spPr bwMode="auto"/>
        <p:txBody>
          <a:bodyPr/>
          <a:lstStyle/>
          <a:p>
            <a:pPr>
              <a:defRPr/>
            </a:pPr>
            <a:endParaRPr lang="tr-TR"/>
          </a:p>
        </p:txBody>
      </p:sp>
      <p:sp>
        <p:nvSpPr>
          <p:cNvPr id="485629471" name="Slayt Numarası Yer Tutucusu 3"/>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Başlıklı İçerik">
    <p:spTree>
      <p:nvGrpSpPr>
        <p:cNvPr id="1" name=""/>
        <p:cNvGrpSpPr/>
        <p:nvPr/>
      </p:nvGrpSpPr>
      <p:grpSpPr bwMode="auto">
        <a:xfrm>
          <a:off x="0" y="0"/>
          <a:ext cx="0" cy="0"/>
          <a:chOff x="0" y="0"/>
          <a:chExt cx="0" cy="0"/>
        </a:xfrm>
      </p:grpSpPr>
      <p:sp>
        <p:nvSpPr>
          <p:cNvPr id="1134119466" name="Başlık 1"/>
          <p:cNvSpPr>
            <a:spLocks noGrp="1"/>
          </p:cNvSpPr>
          <p:nvPr>
            <p:ph type="title"/>
          </p:nvPr>
        </p:nvSpPr>
        <p:spPr bwMode="auto">
          <a:xfrm>
            <a:off x="839788" y="457200"/>
            <a:ext cx="3932237" cy="1600200"/>
          </a:xfrm>
        </p:spPr>
        <p:txBody>
          <a:bodyPr anchor="b"/>
          <a:lstStyle>
            <a:lvl1pPr>
              <a:defRPr sz="3200"/>
            </a:lvl1pPr>
          </a:lstStyle>
          <a:p>
            <a:pPr>
              <a:defRPr/>
            </a:pPr>
            <a:r>
              <a:rPr lang="tr-TR"/>
              <a:t>Asıl başlık stili için tıklatın</a:t>
            </a:r>
            <a:endParaRPr lang="tr-TR"/>
          </a:p>
        </p:txBody>
      </p:sp>
      <p:sp>
        <p:nvSpPr>
          <p:cNvPr id="820556461" name="İçerik Yer Tutucusu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tr-TR"/>
              <a:t>Asıl metin stillerini düzenlemek için tıklatın</a:t>
            </a:r>
            <a:endParaRPr/>
          </a:p>
          <a:p>
            <a:pPr lvl="1">
              <a:defRPr/>
            </a:pPr>
            <a:r>
              <a:rPr lang="tr-TR"/>
              <a:t>İkinci düzey</a:t>
            </a:r>
            <a:endParaRPr/>
          </a:p>
          <a:p>
            <a:pPr lvl="2">
              <a:defRPr/>
            </a:pPr>
            <a:r>
              <a:rPr lang="tr-TR"/>
              <a:t>Üçüncü düzey</a:t>
            </a:r>
            <a:endParaRPr/>
          </a:p>
          <a:p>
            <a:pPr lvl="3">
              <a:defRPr/>
            </a:pPr>
            <a:r>
              <a:rPr lang="tr-TR"/>
              <a:t>Dördüncü düzey</a:t>
            </a:r>
            <a:endParaRPr/>
          </a:p>
          <a:p>
            <a:pPr lvl="4">
              <a:defRPr/>
            </a:pPr>
            <a:r>
              <a:rPr lang="tr-TR"/>
              <a:t>Beşinci düzey</a:t>
            </a:r>
            <a:endParaRPr lang="tr-TR"/>
          </a:p>
        </p:txBody>
      </p:sp>
      <p:sp>
        <p:nvSpPr>
          <p:cNvPr id="457174849" name="Metin Yer Tutucusu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tr-TR"/>
              <a:t>Asıl metin stillerini düzenlemek için tıklatın</a:t>
            </a:r>
            <a:endParaRPr/>
          </a:p>
        </p:txBody>
      </p:sp>
      <p:sp>
        <p:nvSpPr>
          <p:cNvPr id="380457852" name="Veri Yer Tutucusu 4"/>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831282785" name="Altbilgi Yer Tutucusu 5"/>
          <p:cNvSpPr>
            <a:spLocks noGrp="1"/>
          </p:cNvSpPr>
          <p:nvPr>
            <p:ph type="ftr" sz="quarter" idx="11"/>
          </p:nvPr>
        </p:nvSpPr>
        <p:spPr bwMode="auto"/>
        <p:txBody>
          <a:bodyPr/>
          <a:lstStyle/>
          <a:p>
            <a:pPr>
              <a:defRPr/>
            </a:pPr>
            <a:endParaRPr lang="tr-TR"/>
          </a:p>
        </p:txBody>
      </p:sp>
      <p:sp>
        <p:nvSpPr>
          <p:cNvPr id="384667640" name="Slayt Numarası Yer Tutucusu 6"/>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Başlıklı Resim">
    <p:spTree>
      <p:nvGrpSpPr>
        <p:cNvPr id="1" name=""/>
        <p:cNvGrpSpPr/>
        <p:nvPr/>
      </p:nvGrpSpPr>
      <p:grpSpPr bwMode="auto">
        <a:xfrm>
          <a:off x="0" y="0"/>
          <a:ext cx="0" cy="0"/>
          <a:chOff x="0" y="0"/>
          <a:chExt cx="0" cy="0"/>
        </a:xfrm>
      </p:grpSpPr>
      <p:sp>
        <p:nvSpPr>
          <p:cNvPr id="171241211" name="Başlık 1"/>
          <p:cNvSpPr>
            <a:spLocks noGrp="1"/>
          </p:cNvSpPr>
          <p:nvPr>
            <p:ph type="title"/>
          </p:nvPr>
        </p:nvSpPr>
        <p:spPr bwMode="auto">
          <a:xfrm>
            <a:off x="839788" y="457200"/>
            <a:ext cx="3932237" cy="1600200"/>
          </a:xfrm>
        </p:spPr>
        <p:txBody>
          <a:bodyPr anchor="b"/>
          <a:lstStyle>
            <a:lvl1pPr>
              <a:defRPr sz="3200"/>
            </a:lvl1pPr>
          </a:lstStyle>
          <a:p>
            <a:pPr>
              <a:defRPr/>
            </a:pPr>
            <a:r>
              <a:rPr lang="tr-TR"/>
              <a:t>Asıl başlık stili için tıklatın</a:t>
            </a:r>
            <a:endParaRPr lang="tr-TR"/>
          </a:p>
        </p:txBody>
      </p:sp>
      <p:sp>
        <p:nvSpPr>
          <p:cNvPr id="1791026504" name="Resim Yer Tutucusu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tr-TR"/>
              <a:t>Resim eklemek için simgeye tıklayın</a:t>
            </a:r>
            <a:endParaRPr lang="tr-TR"/>
          </a:p>
        </p:txBody>
      </p:sp>
      <p:sp>
        <p:nvSpPr>
          <p:cNvPr id="157392305" name="Metin Yer Tutucusu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tr-TR"/>
              <a:t>Asıl metin stillerini düzenlemek için tıklatın</a:t>
            </a:r>
            <a:endParaRPr/>
          </a:p>
        </p:txBody>
      </p:sp>
      <p:sp>
        <p:nvSpPr>
          <p:cNvPr id="1999626338" name="Veri Yer Tutucusu 4"/>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1016375338" name="Altbilgi Yer Tutucusu 5"/>
          <p:cNvSpPr>
            <a:spLocks noGrp="1"/>
          </p:cNvSpPr>
          <p:nvPr>
            <p:ph type="ftr" sz="quarter" idx="11"/>
          </p:nvPr>
        </p:nvSpPr>
        <p:spPr bwMode="auto"/>
        <p:txBody>
          <a:bodyPr/>
          <a:lstStyle/>
          <a:p>
            <a:pPr>
              <a:defRPr/>
            </a:pPr>
            <a:endParaRPr lang="tr-TR"/>
          </a:p>
        </p:txBody>
      </p:sp>
      <p:sp>
        <p:nvSpPr>
          <p:cNvPr id="1229104812" name="Slayt Numarası Yer Tutucusu 6"/>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Başlık, Dikey Metin">
    <p:spTree>
      <p:nvGrpSpPr>
        <p:cNvPr id="1" name=""/>
        <p:cNvGrpSpPr/>
        <p:nvPr/>
      </p:nvGrpSpPr>
      <p:grpSpPr bwMode="auto">
        <a:xfrm>
          <a:off x="0" y="0"/>
          <a:ext cx="0" cy="0"/>
          <a:chOff x="0" y="0"/>
          <a:chExt cx="0" cy="0"/>
        </a:xfrm>
      </p:grpSpPr>
      <p:sp>
        <p:nvSpPr>
          <p:cNvPr id="683534355" name="Başlık 1"/>
          <p:cNvSpPr>
            <a:spLocks noGrp="1"/>
          </p:cNvSpPr>
          <p:nvPr>
            <p:ph type="title"/>
          </p:nvPr>
        </p:nvSpPr>
        <p:spPr bwMode="auto"/>
        <p:txBody>
          <a:bodyPr/>
          <a:lstStyle/>
          <a:p>
            <a:pPr>
              <a:defRPr/>
            </a:pPr>
            <a:r>
              <a:rPr lang="tr-TR"/>
              <a:t>Asıl başlık stili için tıklatın</a:t>
            </a:r>
            <a:endParaRPr lang="tr-TR"/>
          </a:p>
        </p:txBody>
      </p:sp>
      <p:sp>
        <p:nvSpPr>
          <p:cNvPr id="1072137745" name="Dikey Metin Yer Tutucusu 2"/>
          <p:cNvSpPr>
            <a:spLocks noGrp="1"/>
          </p:cNvSpPr>
          <p:nvPr>
            <p:ph type="body" orient="vert" idx="1"/>
          </p:nvPr>
        </p:nvSpPr>
        <p:spPr bwMode="auto"/>
        <p:txBody>
          <a:bodyPr vert="eaVert"/>
          <a:lstStyle/>
          <a:p>
            <a:pPr lvl="0">
              <a:defRPr/>
            </a:pPr>
            <a:r>
              <a:rPr lang="tr-TR"/>
              <a:t>Asıl metin stillerini düzenlemek için tıklatın</a:t>
            </a:r>
            <a:endParaRPr/>
          </a:p>
          <a:p>
            <a:pPr lvl="1">
              <a:defRPr/>
            </a:pPr>
            <a:r>
              <a:rPr lang="tr-TR"/>
              <a:t>İkinci düzey</a:t>
            </a:r>
            <a:endParaRPr/>
          </a:p>
          <a:p>
            <a:pPr lvl="2">
              <a:defRPr/>
            </a:pPr>
            <a:r>
              <a:rPr lang="tr-TR"/>
              <a:t>Üçüncü düzey</a:t>
            </a:r>
            <a:endParaRPr/>
          </a:p>
          <a:p>
            <a:pPr lvl="3">
              <a:defRPr/>
            </a:pPr>
            <a:r>
              <a:rPr lang="tr-TR"/>
              <a:t>Dördüncü düzey</a:t>
            </a:r>
            <a:endParaRPr/>
          </a:p>
          <a:p>
            <a:pPr lvl="4">
              <a:defRPr/>
            </a:pPr>
            <a:r>
              <a:rPr lang="tr-TR"/>
              <a:t>Beşinci düzey</a:t>
            </a:r>
            <a:endParaRPr lang="tr-TR"/>
          </a:p>
        </p:txBody>
      </p:sp>
      <p:sp>
        <p:nvSpPr>
          <p:cNvPr id="1896389440" name="Veri Yer Tutucusu 3"/>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1235672696" name="Altbilgi Yer Tutucusu 4"/>
          <p:cNvSpPr>
            <a:spLocks noGrp="1"/>
          </p:cNvSpPr>
          <p:nvPr>
            <p:ph type="ftr" sz="quarter" idx="11"/>
          </p:nvPr>
        </p:nvSpPr>
        <p:spPr bwMode="auto"/>
        <p:txBody>
          <a:bodyPr/>
          <a:lstStyle/>
          <a:p>
            <a:pPr>
              <a:defRPr/>
            </a:pPr>
            <a:endParaRPr lang="tr-TR"/>
          </a:p>
        </p:txBody>
      </p:sp>
      <p:sp>
        <p:nvSpPr>
          <p:cNvPr id="361481204" name="Slayt Numarası Yer Tutucusu 5"/>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Dikey Başlık ve Metin">
    <p:spTree>
      <p:nvGrpSpPr>
        <p:cNvPr id="1" name=""/>
        <p:cNvGrpSpPr/>
        <p:nvPr/>
      </p:nvGrpSpPr>
      <p:grpSpPr bwMode="auto">
        <a:xfrm>
          <a:off x="0" y="0"/>
          <a:ext cx="0" cy="0"/>
          <a:chOff x="0" y="0"/>
          <a:chExt cx="0" cy="0"/>
        </a:xfrm>
      </p:grpSpPr>
      <p:sp>
        <p:nvSpPr>
          <p:cNvPr id="632985469" name="Dikey Başlık 1"/>
          <p:cNvSpPr>
            <a:spLocks noGrp="1"/>
          </p:cNvSpPr>
          <p:nvPr>
            <p:ph type="title" orient="vert"/>
          </p:nvPr>
        </p:nvSpPr>
        <p:spPr bwMode="auto">
          <a:xfrm>
            <a:off x="8724900" y="365125"/>
            <a:ext cx="2628900" cy="5811838"/>
          </a:xfrm>
        </p:spPr>
        <p:txBody>
          <a:bodyPr vert="eaVert"/>
          <a:lstStyle/>
          <a:p>
            <a:pPr>
              <a:defRPr/>
            </a:pPr>
            <a:r>
              <a:rPr lang="tr-TR"/>
              <a:t>Asıl başlık stili için tıklatın</a:t>
            </a:r>
            <a:endParaRPr lang="tr-TR"/>
          </a:p>
        </p:txBody>
      </p:sp>
      <p:sp>
        <p:nvSpPr>
          <p:cNvPr id="39397663" name="Dikey Metin Yer Tutucusu 2"/>
          <p:cNvSpPr>
            <a:spLocks noGrp="1"/>
          </p:cNvSpPr>
          <p:nvPr>
            <p:ph type="body" orient="vert" idx="1"/>
          </p:nvPr>
        </p:nvSpPr>
        <p:spPr bwMode="auto">
          <a:xfrm>
            <a:off x="838200" y="365125"/>
            <a:ext cx="7734300" cy="5811838"/>
          </a:xfrm>
        </p:spPr>
        <p:txBody>
          <a:bodyPr vert="eaVert"/>
          <a:lstStyle/>
          <a:p>
            <a:pPr lvl="0">
              <a:defRPr/>
            </a:pPr>
            <a:r>
              <a:rPr lang="tr-TR"/>
              <a:t>Asıl metin stillerini düzenlemek için tıklatın</a:t>
            </a:r>
            <a:endParaRPr/>
          </a:p>
          <a:p>
            <a:pPr lvl="1">
              <a:defRPr/>
            </a:pPr>
            <a:r>
              <a:rPr lang="tr-TR"/>
              <a:t>İkinci düzey</a:t>
            </a:r>
            <a:endParaRPr/>
          </a:p>
          <a:p>
            <a:pPr lvl="2">
              <a:defRPr/>
            </a:pPr>
            <a:r>
              <a:rPr lang="tr-TR"/>
              <a:t>Üçüncü düzey</a:t>
            </a:r>
            <a:endParaRPr/>
          </a:p>
          <a:p>
            <a:pPr lvl="3">
              <a:defRPr/>
            </a:pPr>
            <a:r>
              <a:rPr lang="tr-TR"/>
              <a:t>Dördüncü düzey</a:t>
            </a:r>
            <a:endParaRPr/>
          </a:p>
          <a:p>
            <a:pPr lvl="4">
              <a:defRPr/>
            </a:pPr>
            <a:r>
              <a:rPr lang="tr-TR"/>
              <a:t>Beşinci düzey</a:t>
            </a:r>
            <a:endParaRPr lang="tr-TR"/>
          </a:p>
        </p:txBody>
      </p:sp>
      <p:sp>
        <p:nvSpPr>
          <p:cNvPr id="269533249" name="Veri Yer Tutucusu 3"/>
          <p:cNvSpPr>
            <a:spLocks noGrp="1"/>
          </p:cNvSpPr>
          <p:nvPr>
            <p:ph type="dt" sz="half" idx="10"/>
          </p:nvPr>
        </p:nvSpPr>
        <p:spPr bwMode="auto"/>
        <p:txBody>
          <a:bodyPr/>
          <a:lstStyle/>
          <a:p>
            <a:pPr>
              <a:defRPr/>
            </a:pPr>
            <a:fld id="{BCC18F51-09EC-435C-A3BA-64A766E099C0}" type="datetimeFigureOut">
              <a:rPr lang="tr-TR"/>
              <a:t>30.10.2013</a:t>
            </a:fld>
            <a:endParaRPr lang="tr-TR"/>
          </a:p>
        </p:txBody>
      </p:sp>
      <p:sp>
        <p:nvSpPr>
          <p:cNvPr id="1448564934" name="Altbilgi Yer Tutucusu 4"/>
          <p:cNvSpPr>
            <a:spLocks noGrp="1"/>
          </p:cNvSpPr>
          <p:nvPr>
            <p:ph type="ftr" sz="quarter" idx="11"/>
          </p:nvPr>
        </p:nvSpPr>
        <p:spPr bwMode="auto"/>
        <p:txBody>
          <a:bodyPr/>
          <a:lstStyle/>
          <a:p>
            <a:pPr>
              <a:defRPr/>
            </a:pPr>
            <a:endParaRPr lang="tr-TR"/>
          </a:p>
        </p:txBody>
      </p:sp>
      <p:sp>
        <p:nvSpPr>
          <p:cNvPr id="1433197386" name="Slayt Numarası Yer Tutucusu 5"/>
          <p:cNvSpPr>
            <a:spLocks noGrp="1"/>
          </p:cNvSpPr>
          <p:nvPr>
            <p:ph type="sldNum" sz="quarter" idx="12"/>
          </p:nvPr>
        </p:nvSpPr>
        <p:spPr bwMode="auto"/>
        <p:txBody>
          <a:bodyPr/>
          <a:lstStyle/>
          <a:p>
            <a:pPr>
              <a:defRPr/>
            </a:pPr>
            <a:fld id="{08395586-F03A-48D1-94DF-16B239DF4FB5}" type="slidenum">
              <a:rPr lang="tr-TR"/>
              <a:t>‹#›</a:t>
            </a:fld>
            <a:endParaRPr lang="tr-T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580551002" name="Başlık Yer Tutucusu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tr-TR"/>
              <a:t>Asıl başlık stili için tıklatın</a:t>
            </a:r>
            <a:endParaRPr lang="tr-TR"/>
          </a:p>
        </p:txBody>
      </p:sp>
      <p:sp>
        <p:nvSpPr>
          <p:cNvPr id="1579050632" name="Metin Yer Tutucusu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tr-TR"/>
              <a:t>Asıl metin stillerini düzenlemek için tıklatın</a:t>
            </a:r>
            <a:endParaRPr/>
          </a:p>
          <a:p>
            <a:pPr lvl="1">
              <a:defRPr/>
            </a:pPr>
            <a:r>
              <a:rPr lang="tr-TR"/>
              <a:t>İkinci düzey</a:t>
            </a:r>
            <a:endParaRPr/>
          </a:p>
          <a:p>
            <a:pPr lvl="2">
              <a:defRPr/>
            </a:pPr>
            <a:r>
              <a:rPr lang="tr-TR"/>
              <a:t>Üçüncü düzey</a:t>
            </a:r>
            <a:endParaRPr/>
          </a:p>
          <a:p>
            <a:pPr lvl="3">
              <a:defRPr/>
            </a:pPr>
            <a:r>
              <a:rPr lang="tr-TR"/>
              <a:t>Dördüncü düzey</a:t>
            </a:r>
            <a:endParaRPr/>
          </a:p>
          <a:p>
            <a:pPr lvl="4">
              <a:defRPr/>
            </a:pPr>
            <a:r>
              <a:rPr lang="tr-TR"/>
              <a:t>Beşinci düzey</a:t>
            </a:r>
            <a:endParaRPr lang="tr-TR"/>
          </a:p>
        </p:txBody>
      </p:sp>
      <p:sp>
        <p:nvSpPr>
          <p:cNvPr id="1294027730" name="Veri Yer Tutucusu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tr-TR"/>
              <a:t>30.10.2013</a:t>
            </a:fld>
            <a:endParaRPr lang="tr-TR"/>
          </a:p>
        </p:txBody>
      </p:sp>
      <p:sp>
        <p:nvSpPr>
          <p:cNvPr id="106359432" name="Altbilgi Yer Tutucusu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tr-TR"/>
          </a:p>
        </p:txBody>
      </p:sp>
      <p:sp>
        <p:nvSpPr>
          <p:cNvPr id="1374743439" name="Slayt Numarası Yer Tutucusu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tr-T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tr-T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github.com/ixtiyer/CENG560-DockerSimpleWebApp" TargetMode="Externa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9165586" name="Başlık  1"/>
          <p:cNvSpPr>
            <a:spLocks noGrp="1"/>
          </p:cNvSpPr>
          <p:nvPr>
            <p:ph type="ctrTitle"/>
          </p:nvPr>
        </p:nvSpPr>
        <p:spPr bwMode="auto">
          <a:xfrm flipH="0" flipV="0">
            <a:off x="1523999" y="714375"/>
            <a:ext cx="9144000" cy="1274233"/>
          </a:xfrm>
        </p:spPr>
        <p:txBody>
          <a:bodyPr/>
          <a:lstStyle/>
          <a:p>
            <a:pPr algn="ctr">
              <a:defRPr/>
            </a:pPr>
            <a:r>
              <a:rPr lang="en-GB" sz="2800" b="1">
                <a:solidFill>
                  <a:schemeClr val="tx1">
                    <a:wordTint val="217"/>
                  </a:schemeClr>
                </a:solidFill>
                <a:latin typeface="Arial"/>
                <a:ea typeface="Arial"/>
                <a:cs typeface="Arial"/>
              </a:rPr>
              <a:t>CENG560 — Cloud Technology </a:t>
            </a:r>
            <a:br>
              <a:rPr lang="tr-TR"/>
            </a:br>
            <a:r>
              <a:rPr lang="en-GB" sz="2400" b="1">
                <a:solidFill>
                  <a:schemeClr val="tx1">
                    <a:wordTint val="166"/>
                  </a:schemeClr>
                </a:solidFill>
                <a:latin typeface="Arial"/>
                <a:ea typeface="Arial"/>
                <a:cs typeface="Arial"/>
              </a:rPr>
              <a:t>Fall 2025 </a:t>
            </a:r>
            <a:r>
              <a:rPr lang="tr-TR" sz="2400" b="1">
                <a:solidFill>
                  <a:schemeClr val="tx1">
                    <a:wordTint val="166"/>
                  </a:schemeClr>
                </a:solidFill>
                <a:latin typeface="Arial"/>
                <a:ea typeface="Arial"/>
                <a:cs typeface="Arial"/>
              </a:rPr>
              <a:t>- </a:t>
            </a:r>
            <a:r>
              <a:rPr lang="en-GB" sz="2400" b="1">
                <a:solidFill>
                  <a:schemeClr val="tx1">
                    <a:wordTint val="166"/>
                  </a:schemeClr>
                </a:solidFill>
                <a:latin typeface="Arial"/>
                <a:ea typeface="Arial"/>
                <a:cs typeface="Arial"/>
              </a:rPr>
              <a:t>Term Project</a:t>
            </a:r>
            <a:endParaRPr sz="2400" b="1">
              <a:solidFill>
                <a:schemeClr val="tx1">
                  <a:wordTint val="166"/>
                </a:schemeClr>
              </a:solidFill>
              <a:latin typeface="Arial"/>
              <a:ea typeface="Arial"/>
              <a:cs typeface="Arial"/>
            </a:endParaRPr>
          </a:p>
          <a:p>
            <a:pPr>
              <a:defRPr/>
            </a:pPr>
            <a:r>
              <a:rPr lang="en-GB" sz="2400" b="1">
                <a:solidFill>
                  <a:schemeClr val="tx1">
                    <a:wordTint val="166"/>
                  </a:schemeClr>
                </a:solidFill>
                <a:latin typeface="Arial"/>
                <a:ea typeface="Arial"/>
                <a:cs typeface="Arial"/>
              </a:rPr>
              <a:t>03.01.2026</a:t>
            </a:r>
            <a:endParaRPr lang="tr-TR"/>
          </a:p>
        </p:txBody>
      </p:sp>
      <p:sp>
        <p:nvSpPr>
          <p:cNvPr id="584785554" name="Alt Başlık 2"/>
          <p:cNvSpPr>
            <a:spLocks noGrp="1"/>
          </p:cNvSpPr>
          <p:nvPr>
            <p:ph type="subTitle" idx="1"/>
          </p:nvPr>
        </p:nvSpPr>
        <p:spPr bwMode="auto">
          <a:xfrm flipH="0" flipV="0">
            <a:off x="1523999" y="2553229"/>
            <a:ext cx="9144000" cy="3418945"/>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gn="ctr">
              <a:defRPr/>
            </a:pPr>
            <a:r>
              <a:rPr lang="en-GB" sz="3600" b="0">
                <a:solidFill>
                  <a:schemeClr val="tx1">
                    <a:wordTint val="217"/>
                  </a:schemeClr>
                </a:solidFill>
                <a:latin typeface="Arial"/>
                <a:ea typeface="Arial"/>
                <a:cs typeface="Arial"/>
              </a:rPr>
              <a:t>Dockerizing an Application</a:t>
            </a:r>
            <a:endParaRPr sz="3600" b="0">
              <a:solidFill>
                <a:schemeClr val="tx1">
                  <a:wordTint val="217"/>
                </a:schemeClr>
              </a:solidFill>
              <a:latin typeface="Arial"/>
              <a:cs typeface="Arial"/>
            </a:endParaRPr>
          </a:p>
          <a:p>
            <a:pPr>
              <a:defRPr/>
            </a:pPr>
            <a:r>
              <a:rPr lang="en-GB" sz="2400" b="0">
                <a:solidFill>
                  <a:schemeClr val="tx1">
                    <a:wordTint val="166"/>
                  </a:schemeClr>
                </a:solidFill>
                <a:latin typeface="Arial"/>
                <a:ea typeface="Arial"/>
                <a:cs typeface="Arial"/>
              </a:rPr>
              <a:t>Project Report and Specifications</a:t>
            </a:r>
            <a:endParaRPr lang="tr-TR"/>
          </a:p>
          <a:p>
            <a:pPr>
              <a:defRPr/>
            </a:pPr>
            <a:endParaRPr lang="tr-TR"/>
          </a:p>
          <a:p>
            <a:pPr algn="ctr">
              <a:defRPr/>
            </a:pPr>
            <a:r>
              <a:rPr lang="en-GB" sz="2000" b="0">
                <a:solidFill>
                  <a:schemeClr val="tx1">
                    <a:wordTint val="166"/>
                  </a:schemeClr>
                </a:solidFill>
                <a:latin typeface="Arial"/>
                <a:ea typeface="Arial"/>
                <a:cs typeface="Arial"/>
              </a:rPr>
              <a:t>Instructor:</a:t>
            </a:r>
            <a:r>
              <a:rPr lang="en-GB" sz="2000" b="1">
                <a:solidFill>
                  <a:schemeClr val="tx1">
                    <a:wordTint val="217"/>
                  </a:schemeClr>
                </a:solidFill>
                <a:latin typeface="Arial"/>
                <a:ea typeface="Arial"/>
                <a:cs typeface="Arial"/>
              </a:rPr>
              <a:t> Asst. Prof. Dr. Metin BALCI</a:t>
            </a:r>
            <a:endParaRPr/>
          </a:p>
          <a:p>
            <a:pPr algn="ctr">
              <a:defRPr/>
            </a:pPr>
            <a:endParaRPr lang="en-GB" sz="2000" b="1">
              <a:solidFill>
                <a:schemeClr val="tx1">
                  <a:wordTint val="217"/>
                </a:schemeClr>
              </a:solidFill>
              <a:latin typeface="Arial"/>
              <a:cs typeface="Arial"/>
            </a:endParaRPr>
          </a:p>
          <a:p>
            <a:pPr algn="ctr">
              <a:defRPr/>
            </a:pPr>
            <a:endParaRPr lang="en-GB" sz="2000" b="1">
              <a:solidFill>
                <a:schemeClr val="tx1">
                  <a:wordTint val="217"/>
                </a:schemeClr>
              </a:solidFill>
              <a:latin typeface="Arial"/>
              <a:cs typeface="Arial"/>
            </a:endParaRPr>
          </a:p>
          <a:p>
            <a:pPr algn="ctr">
              <a:defRPr/>
            </a:pPr>
            <a:r>
              <a:rPr lang="en-GB" sz="1800" b="0">
                <a:solidFill>
                  <a:schemeClr val="tx1">
                    <a:wordTint val="166"/>
                  </a:schemeClr>
                </a:solidFill>
                <a:latin typeface="Arial"/>
                <a:ea typeface="Arial"/>
                <a:cs typeface="Arial"/>
              </a:rPr>
              <a:t>Report by</a:t>
            </a:r>
            <a:endParaRPr sz="1800" b="0">
              <a:solidFill>
                <a:schemeClr val="tx1">
                  <a:wordTint val="166"/>
                </a:schemeClr>
              </a:solidFill>
              <a:latin typeface="Arial"/>
              <a:cs typeface="Arial"/>
            </a:endParaRPr>
          </a:p>
          <a:p>
            <a:pPr>
              <a:defRPr/>
            </a:pPr>
            <a:r>
              <a:rPr lang="en-GB" sz="2400" b="1">
                <a:solidFill>
                  <a:schemeClr val="tx1">
                    <a:wordTint val="217"/>
                  </a:schemeClr>
                </a:solidFill>
                <a:latin typeface="Arial"/>
                <a:ea typeface="Arial"/>
                <a:cs typeface="Arial"/>
              </a:rPr>
              <a:t>Mustafa SAĞLAM — 250802001</a:t>
            </a:r>
            <a:endParaRPr lang="tr-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alpha val="99999"/>
          </a:schemeClr>
        </a:solidFill>
      </p:bgPr>
    </p:bg>
    <p:spTree>
      <p:nvGrpSpPr>
        <p:cNvPr id="1" name=""/>
        <p:cNvGrpSpPr/>
        <p:nvPr/>
      </p:nvGrpSpPr>
      <p:grpSpPr bwMode="auto">
        <a:xfrm>
          <a:off x="0" y="0"/>
          <a:ext cx="0" cy="0"/>
          <a:chOff x="0" y="0"/>
          <a:chExt cx="0" cy="0"/>
        </a:xfrm>
      </p:grpSpPr>
      <p:sp>
        <p:nvSpPr>
          <p:cNvPr id="906993781" name="Başlık 1"/>
          <p:cNvSpPr>
            <a:spLocks noGrp="1"/>
          </p:cNvSpPr>
          <p:nvPr>
            <p:ph type="title"/>
          </p:nvPr>
        </p:nvSpPr>
        <p:spPr bwMode="auto"/>
        <p:txBody>
          <a:bodyPr/>
          <a:lstStyle/>
          <a:p>
            <a:pPr>
              <a:defRPr/>
            </a:pPr>
            <a:r>
              <a:rPr lang="tr-TR" sz="3600" b="1">
                <a:solidFill>
                  <a:schemeClr val="tx1">
                    <a:wordTint val="217"/>
                  </a:schemeClr>
                </a:solidFill>
                <a:latin typeface="Arial"/>
                <a:ea typeface="Arial"/>
                <a:cs typeface="Arial"/>
              </a:rPr>
              <a:t>Introduction</a:t>
            </a:r>
            <a:endParaRPr sz="12000"/>
          </a:p>
        </p:txBody>
      </p:sp>
      <p:sp>
        <p:nvSpPr>
          <p:cNvPr id="2133552780" name="İçerik Yer Tutucusu 2"/>
          <p:cNvSpPr>
            <a:spLocks noGrp="1"/>
          </p:cNvSpPr>
          <p:nvPr>
            <p:ph idx="1"/>
          </p:nvPr>
        </p:nvSpPr>
        <p:spPr bwMode="auto">
          <a:xfrm flipH="0" flipV="0">
            <a:off x="560387" y="1877891"/>
            <a:ext cx="4520966" cy="4351338"/>
          </a:xfrm>
        </p:spPr>
        <p:txBody>
          <a:bodyPr/>
          <a:lstStyle/>
          <a:p>
            <a:pPr marL="0" indent="0" algn="just">
              <a:buFont typeface="Arial"/>
              <a:buNone/>
              <a:defRPr/>
            </a:pPr>
            <a:r>
              <a:rPr lang="tr-TR" sz="2400">
                <a:solidFill>
                  <a:schemeClr val="tx1">
                    <a:wordTint val="217"/>
                  </a:schemeClr>
                </a:solidFill>
                <a:latin typeface="Times New Roman"/>
                <a:ea typeface="Times New Roman"/>
                <a:cs typeface="Times New Roman"/>
              </a:rPr>
              <a:t>This presentatiton explains the steps taken to create and containerize a simple web app</a:t>
            </a:r>
            <a:r>
              <a:rPr lang="tr-TR" sz="2400">
                <a:solidFill>
                  <a:schemeClr val="tx1">
                    <a:wordTint val="217"/>
                  </a:schemeClr>
                </a:solidFill>
                <a:latin typeface="Times New Roman"/>
                <a:ea typeface="Times New Roman"/>
                <a:cs typeface="Times New Roman"/>
              </a:rPr>
              <a:t>lication using Docker. The web application is simple e-commerce app that has a NodeJS backend, a </a:t>
            </a:r>
            <a:r>
              <a:rPr lang="tr-TR" sz="2400">
                <a:solidFill>
                  <a:schemeClr val="tx1">
                    <a:wordTint val="217"/>
                  </a:schemeClr>
                </a:solidFill>
                <a:latin typeface="Times New Roman"/>
                <a:ea typeface="Times New Roman"/>
                <a:cs typeface="Times New Roman"/>
              </a:rPr>
              <a:t>React frontend with Vite framework as build system and a simple PostgreSQL database for persistent storage. The application then is conteinarized using Docker.</a:t>
            </a:r>
            <a:endParaRPr sz="8000"/>
          </a:p>
        </p:txBody>
      </p:sp>
      <p:pic>
        <p:nvPicPr>
          <p:cNvPr id="1984180975" name=""/>
          <p:cNvPicPr>
            <a:picLocks noChangeAspect="1"/>
          </p:cNvPicPr>
          <p:nvPr/>
        </p:nvPicPr>
        <p:blipFill rotWithShape="1">
          <a:blip r:embed="rId3"/>
          <a:stretch/>
        </p:blipFill>
        <p:spPr bwMode="auto">
          <a:xfrm flipH="0" flipV="0">
            <a:off x="6705493" y="3983975"/>
            <a:ext cx="2624115" cy="2245254"/>
          </a:xfrm>
          <a:prstGeom prst="rect">
            <a:avLst/>
          </a:prstGeom>
          <a:pattFill prst="wdUpDiag">
            <a:fgClr>
              <a:schemeClr val="accent1"/>
            </a:fgClr>
            <a:bgClr>
              <a:srgbClr val="FFFFFF"/>
            </a:bgClr>
          </a:pattFill>
          <a:ln w="12699">
            <a:solidFill>
              <a:schemeClr val="accent1">
                <a:lumMod val="50196"/>
              </a:schemeClr>
            </a:solidFill>
            <a:prstDash val="solid"/>
          </a:ln>
        </p:spPr>
      </p:pic>
      <p:pic>
        <p:nvPicPr>
          <p:cNvPr id="459792563" name=""/>
          <p:cNvPicPr>
            <a:picLocks noChangeAspect="1"/>
          </p:cNvPicPr>
          <p:nvPr/>
        </p:nvPicPr>
        <p:blipFill rotWithShape="1">
          <a:blip r:embed="rId4"/>
          <a:stretch/>
        </p:blipFill>
        <p:spPr bwMode="auto">
          <a:xfrm flipH="0" flipV="0">
            <a:off x="5555260" y="1745813"/>
            <a:ext cx="2315103" cy="1417306"/>
          </a:xfrm>
          <a:prstGeom prst="rect">
            <a:avLst/>
          </a:prstGeom>
          <a:ln w="12699">
            <a:solidFill>
              <a:schemeClr val="accent1">
                <a:lumMod val="50196"/>
              </a:schemeClr>
            </a:solidFill>
            <a:prstDash val="solid"/>
          </a:ln>
        </p:spPr>
      </p:pic>
      <p:pic>
        <p:nvPicPr>
          <p:cNvPr id="71603719" name=""/>
          <p:cNvPicPr>
            <a:picLocks noChangeAspect="1"/>
          </p:cNvPicPr>
          <p:nvPr/>
        </p:nvPicPr>
        <p:blipFill rotWithShape="1">
          <a:blip r:embed="rId5"/>
          <a:stretch/>
        </p:blipFill>
        <p:spPr bwMode="auto">
          <a:xfrm flipH="0" flipV="0">
            <a:off x="8612187" y="170656"/>
            <a:ext cx="2274946" cy="1520031"/>
          </a:xfrm>
          <a:prstGeom prst="mathPlus">
            <a:avLst>
              <a:gd name="adj1" fmla="val 23520"/>
            </a:avLst>
          </a:prstGeom>
          <a:ln w="12699">
            <a:solidFill>
              <a:schemeClr val="accent1">
                <a:lumMod val="50196"/>
              </a:schemeClr>
            </a:solidFill>
            <a:prstDash val="solid"/>
          </a:ln>
          <a:effectLst/>
        </p:spPr>
      </p:pic>
      <p:pic>
        <p:nvPicPr>
          <p:cNvPr id="235015500" name=""/>
          <p:cNvPicPr>
            <a:picLocks noChangeAspect="1"/>
          </p:cNvPicPr>
          <p:nvPr/>
        </p:nvPicPr>
        <p:blipFill rotWithShape="1">
          <a:blip r:embed="rId6"/>
          <a:srcRect l="19092" t="0" r="21596" b="0"/>
          <a:stretch/>
        </p:blipFill>
        <p:spPr bwMode="auto">
          <a:xfrm flipH="0" flipV="0">
            <a:off x="10047754" y="3983975"/>
            <a:ext cx="1734841" cy="1681034"/>
          </a:xfrm>
          <a:prstGeom prst="rect">
            <a:avLst/>
          </a:prstGeom>
          <a:ln w="12699">
            <a:solidFill>
              <a:schemeClr val="accent1">
                <a:lumMod val="50196"/>
              </a:schemeClr>
            </a:solidFill>
            <a:prstDash val="solid"/>
          </a:ln>
          <a:effectLst>
            <a:outerShdw blurRad="50800" sx="102000" sy="102000" algn="ctr" rotWithShape="0">
              <a:prstClr val="black">
                <a:alpha val="40000"/>
              </a:prstClr>
            </a:outerShdw>
          </a:effectLst>
        </p:spPr>
      </p:pic>
      <p:cxnSp>
        <p:nvCxnSpPr>
          <p:cNvPr id="2014337237" name=""/>
          <p:cNvCxnSpPr>
            <a:stCxn id="1984180975" idx="3"/>
            <a:endCxn id="235015500" idx="1"/>
          </p:cNvCxnSpPr>
          <p:nvPr/>
        </p:nvCxnSpPr>
        <p:spPr bwMode="auto">
          <a:xfrm rot="0" flipH="0" flipV="1">
            <a:off x="9329609" y="4824492"/>
            <a:ext cx="718144" cy="282109"/>
          </a:xfrm>
          <a:prstGeom prst="line">
            <a:avLst/>
          </a:prstGeom>
          <a:ln w="38099" cap="flat" cmpd="sng" algn="ctr">
            <a:solidFill>
              <a:schemeClr val="accent1">
                <a:shade val="50000"/>
              </a:schemeClr>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1962169251" name=""/>
          <p:cNvCxnSpPr>
            <a:endCxn id="459792563" idx="2"/>
          </p:cNvCxnSpPr>
          <p:nvPr/>
        </p:nvCxnSpPr>
        <p:spPr bwMode="auto">
          <a:xfrm rot="16199969" flipH="0" flipV="1">
            <a:off x="6420310" y="3455622"/>
            <a:ext cx="765941" cy="180937"/>
          </a:xfrm>
          <a:prstGeom prst="line">
            <a:avLst/>
          </a:prstGeom>
          <a:ln w="38099" cap="flat" cmpd="sng" algn="ctr">
            <a:solidFill>
              <a:schemeClr val="accent1">
                <a:shade val="50000"/>
              </a:schemeClr>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1681307576" name=""/>
          <p:cNvCxnSpPr>
            <a:endCxn id="459792563" idx="3"/>
          </p:cNvCxnSpPr>
          <p:nvPr/>
        </p:nvCxnSpPr>
        <p:spPr bwMode="auto">
          <a:xfrm rot="10799990" flipH="0" flipV="0">
            <a:off x="7870364" y="2454467"/>
            <a:ext cx="2211614" cy="1527511"/>
          </a:xfrm>
          <a:prstGeom prst="line">
            <a:avLst/>
          </a:prstGeom>
          <a:ln w="38099" cap="flat" cmpd="sng" algn="ctr">
            <a:solidFill>
              <a:srgbClr val="FF0000"/>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1039432538" name=""/>
          <p:cNvCxnSpPr>
            <a:endCxn id="71603719" idx="1"/>
          </p:cNvCxnSpPr>
          <p:nvPr/>
        </p:nvCxnSpPr>
        <p:spPr bwMode="auto">
          <a:xfrm rot="16199969" flipH="0" flipV="0">
            <a:off x="7781742" y="942262"/>
            <a:ext cx="842036" cy="818853"/>
          </a:xfrm>
          <a:prstGeom prst="line">
            <a:avLst/>
          </a:prstGeom>
          <a:ln w="38099" cap="flat" cmpd="sng" algn="ctr">
            <a:solidFill>
              <a:srgbClr val="7030A0"/>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400911260" name=""/>
          <p:cNvCxnSpPr>
            <a:endCxn id="71603719" idx="2"/>
          </p:cNvCxnSpPr>
          <p:nvPr/>
        </p:nvCxnSpPr>
        <p:spPr bwMode="auto">
          <a:xfrm rot="16199969" flipH="0" flipV="0">
            <a:off x="8274080" y="2466711"/>
            <a:ext cx="2251603" cy="699556"/>
          </a:xfrm>
          <a:prstGeom prst="line">
            <a:avLst/>
          </a:prstGeom>
          <a:ln w="38099" cap="flat" cmpd="sng" algn="ctr">
            <a:solidFill>
              <a:schemeClr val="accent1">
                <a:shade val="50000"/>
              </a:schemeClr>
            </a:solidFill>
            <a:prstDash val="solid"/>
            <a:miter lim="800000"/>
            <a:tailEnd type="arrow" len="med"/>
          </a:ln>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7167932" name="Başlık 1"/>
          <p:cNvSpPr>
            <a:spLocks noGrp="1"/>
          </p:cNvSpPr>
          <p:nvPr>
            <p:ph type="title"/>
          </p:nvPr>
        </p:nvSpPr>
        <p:spPr bwMode="auto"/>
        <p:txBody>
          <a:bodyPr/>
          <a:lstStyle/>
          <a:p>
            <a:pPr>
              <a:defRPr/>
            </a:pPr>
            <a:r>
              <a:rPr lang="tr-TR" sz="3600" b="1">
                <a:solidFill>
                  <a:schemeClr val="tx1">
                    <a:wordTint val="217"/>
                  </a:schemeClr>
                </a:solidFill>
                <a:latin typeface="Arial"/>
                <a:ea typeface="Arial"/>
                <a:cs typeface="Arial"/>
              </a:rPr>
              <a:t>Application Specification</a:t>
            </a:r>
            <a:endParaRPr sz="12000"/>
          </a:p>
        </p:txBody>
      </p:sp>
      <p:sp>
        <p:nvSpPr>
          <p:cNvPr id="220741747" name="İçerik Yer Tutucusu 2"/>
          <p:cNvSpPr>
            <a:spLocks noGrp="1"/>
          </p:cNvSpPr>
          <p:nvPr>
            <p:ph idx="1"/>
          </p:nvPr>
        </p:nvSpPr>
        <p:spPr bwMode="auto">
          <a:xfrm flipH="0" flipV="0">
            <a:off x="600074" y="1455208"/>
            <a:ext cx="10753724" cy="5146145"/>
          </a:xfrm>
        </p:spPr>
        <p:txBody>
          <a:bodyPr vertOverflow="overflow" horzOverflow="overflow" vert="horz" wrap="square" lIns="91440" tIns="45720" rIns="91440" bIns="45720" numCol="1" spcCol="0" rtlCol="0" fromWordArt="0" anchor="t" anchorCtr="0" forceAA="0" upright="0" compatLnSpc="0">
            <a:normAutofit/>
          </a:bodyPr>
          <a:lstStyle/>
          <a:p>
            <a:pPr algn="just">
              <a:spcAft>
                <a:spcPts val="0"/>
              </a:spcAft>
              <a:defRPr/>
            </a:pPr>
            <a:r>
              <a:rPr lang="tr-TR" sz="2400" b="1">
                <a:solidFill>
                  <a:schemeClr val="tx1">
                    <a:wordTint val="217"/>
                  </a:schemeClr>
                </a:solidFill>
                <a:latin typeface="Times New Roman"/>
                <a:ea typeface="Times New Roman"/>
                <a:cs typeface="Times New Roman"/>
              </a:rPr>
              <a:t>PostgreSQL Database</a:t>
            </a:r>
            <a:endParaRPr sz="2400" b="1">
              <a:solidFill>
                <a:schemeClr val="tx1">
                  <a:wordTint val="217"/>
                </a:schemeClr>
              </a:solidFill>
              <a:latin typeface="Times New Roman"/>
              <a:ea typeface="Times New Roman"/>
              <a:cs typeface="Times New Roman"/>
            </a:endParaRPr>
          </a:p>
          <a:p>
            <a:pPr marL="0" indent="0" algn="just">
              <a:spcAft>
                <a:spcPts val="0"/>
              </a:spcAft>
              <a:buFont typeface="Arial"/>
              <a:buNone/>
              <a:defRPr/>
            </a:pPr>
            <a:r>
              <a:rPr lang="tr-TR" sz="2400" b="0">
                <a:solidFill>
                  <a:schemeClr val="tx1">
                    <a:wordTint val="217"/>
                  </a:schemeClr>
                </a:solidFill>
                <a:latin typeface="Times New Roman"/>
                <a:ea typeface="Times New Roman"/>
                <a:cs typeface="Times New Roman"/>
              </a:rPr>
              <a:t>The database includes 2 tables, products and</a:t>
            </a:r>
            <a:r>
              <a:rPr lang="tr-TR" sz="2400" b="0">
                <a:solidFill>
                  <a:schemeClr val="tx1">
                    <a:wordTint val="217"/>
                  </a:schemeClr>
                </a:solidFill>
                <a:latin typeface="Times New Roman"/>
                <a:ea typeface="Times New Roman"/>
                <a:cs typeface="Times New Roman"/>
              </a:rPr>
              <a:t> users. The products table has the name, rating, cost and resource paths to static product image files while the users table has email, name and password information. Since cloud security is not the scope of this report, the data is completely in the open.</a:t>
            </a:r>
            <a:endParaRPr sz="2400" b="1">
              <a:solidFill>
                <a:schemeClr val="tx1">
                  <a:wordTint val="217"/>
                </a:schemeClr>
              </a:solidFill>
              <a:latin typeface="Times New Roman"/>
              <a:cs typeface="Times New Roman"/>
            </a:endParaRPr>
          </a:p>
          <a:p>
            <a:pPr algn="just">
              <a:spcAft>
                <a:spcPts val="0"/>
              </a:spcAft>
              <a:defRPr/>
            </a:pPr>
            <a:r>
              <a:rPr lang="tr-TR" sz="2400" b="1">
                <a:solidFill>
                  <a:schemeClr val="tx1">
                    <a:wordTint val="217"/>
                  </a:schemeClr>
                </a:solidFill>
                <a:latin typeface="Times New Roman"/>
                <a:ea typeface="Times New Roman"/>
                <a:cs typeface="Times New Roman"/>
              </a:rPr>
              <a:t>NodeJS Backend</a:t>
            </a:r>
            <a:endParaRPr sz="2400" b="1">
              <a:solidFill>
                <a:schemeClr val="tx1">
                  <a:wordTint val="217"/>
                </a:schemeClr>
              </a:solidFill>
              <a:latin typeface="Times New Roman"/>
              <a:ea typeface="Times New Roman"/>
              <a:cs typeface="Times New Roman"/>
            </a:endParaRPr>
          </a:p>
          <a:p>
            <a:pPr marL="0" indent="0" algn="just">
              <a:spcAft>
                <a:spcPts val="0"/>
              </a:spcAft>
              <a:buFont typeface="Arial"/>
              <a:buNone/>
              <a:defRPr/>
            </a:pPr>
            <a:r>
              <a:rPr lang="tr-TR" sz="2400">
                <a:solidFill>
                  <a:schemeClr val="tx1">
                    <a:wordTint val="217"/>
                  </a:schemeClr>
                </a:solidFill>
                <a:latin typeface="Times New Roman"/>
                <a:ea typeface="Times New Roman"/>
                <a:cs typeface="Times New Roman"/>
              </a:rPr>
              <a:t>Project backend has an initial seed file that will seed the database tables expalined above with initial data. The server file on the other hand includes API methods for logging in, signing up and getting a list of all the products.</a:t>
            </a:r>
            <a:endParaRPr sz="2400" b="1">
              <a:solidFill>
                <a:schemeClr val="tx1">
                  <a:wordTint val="217"/>
                </a:schemeClr>
              </a:solidFill>
              <a:latin typeface="Times New Roman"/>
              <a:cs typeface="Times New Roman"/>
            </a:endParaRPr>
          </a:p>
          <a:p>
            <a:pPr algn="just">
              <a:spcAft>
                <a:spcPts val="0"/>
              </a:spcAft>
              <a:defRPr/>
            </a:pPr>
            <a:r>
              <a:rPr lang="tr-TR" sz="2400" b="1">
                <a:solidFill>
                  <a:schemeClr val="tx1">
                    <a:wordTint val="217"/>
                  </a:schemeClr>
                </a:solidFill>
                <a:latin typeface="Times New Roman"/>
                <a:ea typeface="Times New Roman"/>
                <a:cs typeface="Times New Roman"/>
              </a:rPr>
              <a:t>ReactJS + Vite Frontend</a:t>
            </a:r>
            <a:endParaRPr sz="2400" b="1">
              <a:solidFill>
                <a:schemeClr val="tx1">
                  <a:wordTint val="217"/>
                </a:schemeClr>
              </a:solidFill>
              <a:latin typeface="Times New Roman"/>
              <a:cs typeface="Times New Roman"/>
            </a:endParaRPr>
          </a:p>
          <a:p>
            <a:pPr marL="0" indent="0">
              <a:buFont typeface="Arial"/>
              <a:buNone/>
              <a:defRPr/>
            </a:pPr>
            <a:r>
              <a:rPr lang="tr-TR" sz="2400">
                <a:solidFill>
                  <a:schemeClr val="tx1">
                    <a:wordTint val="217"/>
                  </a:schemeClr>
                </a:solidFill>
                <a:latin typeface="Times New Roman"/>
                <a:ea typeface="Times New Roman"/>
                <a:cs typeface="Times New Roman"/>
              </a:rPr>
              <a:t>The frontend of the application is only one intereactive page that lists the products along with their images, allowing for sign in and sign up operations. There is also a my cart feature allowing items to be added and checked out.</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26913005" name=""/>
          <p:cNvPicPr>
            <a:picLocks noChangeAspect="1"/>
          </p:cNvPicPr>
          <p:nvPr/>
        </p:nvPicPr>
        <p:blipFill rotWithShape="1">
          <a:blip r:embed="rId3"/>
          <a:stretch/>
        </p:blipFill>
        <p:spPr bwMode="auto">
          <a:xfrm rot="0" flipH="0" flipV="0">
            <a:off x="-19913" y="-17197"/>
            <a:ext cx="12231828" cy="689239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9693758" name="Başlık 1"/>
          <p:cNvSpPr>
            <a:spLocks noGrp="1"/>
          </p:cNvSpPr>
          <p:nvPr>
            <p:ph type="title"/>
          </p:nvPr>
        </p:nvSpPr>
        <p:spPr bwMode="auto"/>
        <p:txBody>
          <a:bodyPr/>
          <a:lstStyle/>
          <a:p>
            <a:pPr>
              <a:defRPr/>
            </a:pPr>
            <a:r>
              <a:rPr lang="tr-TR" sz="3600" b="1">
                <a:solidFill>
                  <a:schemeClr val="tx1">
                    <a:wordTint val="217"/>
                  </a:schemeClr>
                </a:solidFill>
                <a:latin typeface="Arial"/>
                <a:ea typeface="Arial"/>
                <a:cs typeface="Arial"/>
              </a:rPr>
              <a:t>Dockerization and Resources Used</a:t>
            </a:r>
            <a:endParaRPr sz="12000"/>
          </a:p>
        </p:txBody>
      </p:sp>
      <p:sp>
        <p:nvSpPr>
          <p:cNvPr id="833403549" name=""/>
          <p:cNvSpPr/>
          <p:nvPr/>
        </p:nvSpPr>
        <p:spPr bwMode="auto">
          <a:xfrm rot="0" flipH="0" flipV="0">
            <a:off x="8587083" y="2507720"/>
            <a:ext cx="3307291" cy="3207278"/>
          </a:xfrm>
          <a:prstGeom prst="rect">
            <a:avLst/>
          </a:prstGeom>
          <a:solidFill>
            <a:schemeClr val="lt1"/>
          </a:solidFill>
          <a:ln w="6350">
            <a:solidFill>
              <a:prstClr val="black"/>
            </a:solidFill>
          </a:ln>
        </p:spPr>
        <p:txBody>
          <a:bodyPr vertOverflow="overflow" horzOverflow="overflow" vert="horz" wrap="square" lIns="91440" tIns="45720" rIns="91440" bIns="45720" numCol="1" spcCol="0" rtlCol="0" fromWordArt="0" anchor="t" anchorCtr="0" forceAA="0" upright="0" compatLnSpc="0"/>
          <a:p>
            <a:pPr marL="0" marR="0" indent="0">
              <a:spcAft>
                <a:spcPts val="0"/>
              </a:spcAft>
              <a:defRPr/>
            </a:pPr>
            <a:r>
              <a:rPr sz="2000">
                <a:solidFill>
                  <a:srgbClr val="0000FF"/>
                </a:solidFill>
                <a:latin typeface="Consolas"/>
                <a:ea typeface="Consolas"/>
                <a:cs typeface="Consolas"/>
              </a:rPr>
              <a:t>FROM</a:t>
            </a:r>
            <a:r>
              <a:rPr sz="2000">
                <a:solidFill>
                  <a:srgbClr val="000000"/>
                </a:solidFill>
                <a:latin typeface="Consolas"/>
                <a:ea typeface="Consolas"/>
                <a:cs typeface="Consolas"/>
              </a:rPr>
              <a:t> </a:t>
            </a:r>
            <a:r>
              <a:rPr sz="2000">
                <a:solidFill>
                  <a:srgbClr val="2B91AF"/>
                </a:solidFill>
                <a:latin typeface="Consolas"/>
                <a:ea typeface="Consolas"/>
                <a:cs typeface="Consolas"/>
              </a:rPr>
              <a:t>node</a:t>
            </a:r>
            <a:r>
              <a:rPr sz="2000">
                <a:solidFill>
                  <a:srgbClr val="000000"/>
                </a:solidFill>
                <a:latin typeface="Consolas"/>
                <a:ea typeface="Consolas"/>
                <a:cs typeface="Consolas"/>
              </a:rPr>
              <a:t>:20-alpine  </a:t>
            </a:r>
            <a:endParaRPr sz="3600"/>
          </a:p>
          <a:p>
            <a:pPr marL="0" marR="0" indent="0">
              <a:spcAft>
                <a:spcPts val="0"/>
              </a:spcAft>
              <a:defRPr/>
            </a:pPr>
            <a:r>
              <a:rPr sz="2000">
                <a:solidFill>
                  <a:srgbClr val="0000FF"/>
                </a:solidFill>
                <a:latin typeface="Consolas"/>
                <a:ea typeface="Consolas"/>
                <a:cs typeface="Consolas"/>
              </a:rPr>
              <a:t>WORKDIR</a:t>
            </a:r>
            <a:r>
              <a:rPr sz="2000">
                <a:solidFill>
                  <a:srgbClr val="000000"/>
                </a:solidFill>
                <a:latin typeface="Consolas"/>
                <a:ea typeface="Consolas"/>
                <a:cs typeface="Consolas"/>
              </a:rPr>
              <a:t> </a:t>
            </a:r>
            <a:r>
              <a:rPr sz="2000">
                <a:solidFill>
                  <a:srgbClr val="808080"/>
                </a:solidFill>
                <a:latin typeface="Consolas"/>
                <a:ea typeface="Consolas"/>
                <a:cs typeface="Consolas"/>
              </a:rPr>
              <a:t>/app</a:t>
            </a:r>
            <a:endParaRPr sz="3600"/>
          </a:p>
          <a:p>
            <a:pPr marL="0" marR="0" indent="0">
              <a:spcAft>
                <a:spcPts val="0"/>
              </a:spcAft>
              <a:defRPr/>
            </a:pPr>
            <a:r>
              <a:rPr sz="2000">
                <a:solidFill>
                  <a:srgbClr val="0000FF"/>
                </a:solidFill>
                <a:latin typeface="Consolas"/>
                <a:ea typeface="Consolas"/>
                <a:cs typeface="Consolas"/>
              </a:rPr>
              <a:t>COPY</a:t>
            </a:r>
            <a:r>
              <a:rPr sz="2000">
                <a:solidFill>
                  <a:srgbClr val="000000"/>
                </a:solidFill>
                <a:latin typeface="Consolas"/>
                <a:ea typeface="Consolas"/>
                <a:cs typeface="Consolas"/>
              </a:rPr>
              <a:t> </a:t>
            </a:r>
            <a:r>
              <a:rPr sz="2000">
                <a:solidFill>
                  <a:srgbClr val="808080"/>
                </a:solidFill>
                <a:latin typeface="Consolas"/>
                <a:ea typeface="Consolas"/>
                <a:cs typeface="Consolas"/>
              </a:rPr>
              <a:t>package*.json</a:t>
            </a:r>
            <a:r>
              <a:rPr sz="2000">
                <a:solidFill>
                  <a:srgbClr val="000000"/>
                </a:solidFill>
                <a:latin typeface="Consolas"/>
                <a:ea typeface="Consolas"/>
                <a:cs typeface="Consolas"/>
              </a:rPr>
              <a:t> </a:t>
            </a:r>
            <a:r>
              <a:rPr sz="2000">
                <a:solidFill>
                  <a:srgbClr val="808080"/>
                </a:solidFill>
                <a:latin typeface="Consolas"/>
                <a:ea typeface="Consolas"/>
                <a:cs typeface="Consolas"/>
              </a:rPr>
              <a:t>./</a:t>
            </a:r>
            <a:endParaRPr sz="3600"/>
          </a:p>
          <a:p>
            <a:pPr marL="0" marR="0" indent="0">
              <a:spcAft>
                <a:spcPts val="0"/>
              </a:spcAft>
              <a:defRPr/>
            </a:pPr>
            <a:r>
              <a:rPr sz="2000">
                <a:solidFill>
                  <a:srgbClr val="0000FF"/>
                </a:solidFill>
                <a:latin typeface="Consolas"/>
                <a:ea typeface="Consolas"/>
                <a:cs typeface="Consolas"/>
              </a:rPr>
              <a:t>RUN</a:t>
            </a:r>
            <a:r>
              <a:rPr sz="2000">
                <a:solidFill>
                  <a:srgbClr val="000000"/>
                </a:solidFill>
                <a:latin typeface="Consolas"/>
                <a:ea typeface="Consolas"/>
                <a:cs typeface="Consolas"/>
              </a:rPr>
              <a:t> </a:t>
            </a:r>
            <a:r>
              <a:rPr sz="2000">
                <a:solidFill>
                  <a:srgbClr val="808080"/>
                </a:solidFill>
                <a:latin typeface="Consolas"/>
                <a:ea typeface="Consolas"/>
                <a:cs typeface="Consolas"/>
              </a:rPr>
              <a:t>npm</a:t>
            </a:r>
            <a:r>
              <a:rPr sz="2000">
                <a:solidFill>
                  <a:srgbClr val="000000"/>
                </a:solidFill>
                <a:latin typeface="Consolas"/>
                <a:ea typeface="Consolas"/>
                <a:cs typeface="Consolas"/>
              </a:rPr>
              <a:t> </a:t>
            </a:r>
            <a:r>
              <a:rPr sz="2000">
                <a:solidFill>
                  <a:srgbClr val="808080"/>
                </a:solidFill>
                <a:latin typeface="Consolas"/>
                <a:ea typeface="Consolas"/>
                <a:cs typeface="Consolas"/>
              </a:rPr>
              <a:t>install</a:t>
            </a:r>
            <a:endParaRPr sz="3600"/>
          </a:p>
          <a:p>
            <a:pPr marL="0" marR="0" indent="0">
              <a:spcAft>
                <a:spcPts val="0"/>
              </a:spcAft>
              <a:defRPr/>
            </a:pPr>
            <a:r>
              <a:rPr sz="2000">
                <a:solidFill>
                  <a:srgbClr val="0000FF"/>
                </a:solidFill>
                <a:latin typeface="Consolas"/>
                <a:ea typeface="Consolas"/>
                <a:cs typeface="Consolas"/>
              </a:rPr>
              <a:t>COPY</a:t>
            </a:r>
            <a:r>
              <a:rPr sz="2000">
                <a:solidFill>
                  <a:srgbClr val="000000"/>
                </a:solidFill>
                <a:latin typeface="Consolas"/>
                <a:ea typeface="Consolas"/>
                <a:cs typeface="Consolas"/>
              </a:rPr>
              <a:t> </a:t>
            </a:r>
            <a:r>
              <a:rPr sz="2000">
                <a:solidFill>
                  <a:srgbClr val="808080"/>
                </a:solidFill>
                <a:latin typeface="Consolas"/>
                <a:ea typeface="Consolas"/>
                <a:cs typeface="Consolas"/>
              </a:rPr>
              <a:t>.</a:t>
            </a:r>
            <a:r>
              <a:rPr sz="2000">
                <a:solidFill>
                  <a:srgbClr val="000000"/>
                </a:solidFill>
                <a:latin typeface="Consolas"/>
                <a:ea typeface="Consolas"/>
                <a:cs typeface="Consolas"/>
              </a:rPr>
              <a:t> </a:t>
            </a:r>
            <a:r>
              <a:rPr sz="2000">
                <a:solidFill>
                  <a:srgbClr val="808080"/>
                </a:solidFill>
                <a:latin typeface="Consolas"/>
                <a:ea typeface="Consolas"/>
                <a:cs typeface="Consolas"/>
              </a:rPr>
              <a:t>.</a:t>
            </a:r>
            <a:endParaRPr sz="3600"/>
          </a:p>
          <a:p>
            <a:pPr marL="0" marR="0" indent="0">
              <a:spcAft>
                <a:spcPts val="0"/>
              </a:spcAft>
              <a:defRPr/>
            </a:pPr>
            <a:r>
              <a:rPr sz="2000">
                <a:solidFill>
                  <a:srgbClr val="0000FF"/>
                </a:solidFill>
                <a:latin typeface="Consolas"/>
                <a:ea typeface="Consolas"/>
                <a:cs typeface="Consolas"/>
              </a:rPr>
              <a:t>EXPOSE</a:t>
            </a:r>
            <a:r>
              <a:rPr sz="2000">
                <a:solidFill>
                  <a:srgbClr val="000000"/>
                </a:solidFill>
                <a:latin typeface="Consolas"/>
                <a:ea typeface="Consolas"/>
                <a:cs typeface="Consolas"/>
              </a:rPr>
              <a:t> </a:t>
            </a:r>
            <a:r>
              <a:rPr sz="2000">
                <a:solidFill>
                  <a:srgbClr val="808080"/>
                </a:solidFill>
                <a:latin typeface="Consolas"/>
                <a:ea typeface="Consolas"/>
                <a:cs typeface="Consolas"/>
              </a:rPr>
              <a:t>4000</a:t>
            </a:r>
            <a:endParaRPr sz="3600"/>
          </a:p>
          <a:p>
            <a:pPr marL="0" marR="0" indent="0">
              <a:spcAft>
                <a:spcPts val="0"/>
              </a:spcAft>
              <a:defRPr/>
            </a:pPr>
            <a:r>
              <a:rPr sz="2000">
                <a:solidFill>
                  <a:srgbClr val="0000FF"/>
                </a:solidFill>
                <a:latin typeface="Consolas"/>
                <a:ea typeface="Consolas"/>
                <a:cs typeface="Consolas"/>
              </a:rPr>
              <a:t>CMD</a:t>
            </a:r>
            <a:r>
              <a:rPr sz="2000">
                <a:solidFill>
                  <a:srgbClr val="000000"/>
                </a:solidFill>
                <a:latin typeface="Consolas"/>
                <a:ea typeface="Consolas"/>
                <a:cs typeface="Consolas"/>
              </a:rPr>
              <a:t> </a:t>
            </a:r>
            <a:r>
              <a:rPr sz="2000">
                <a:solidFill>
                  <a:srgbClr val="808080"/>
                </a:solidFill>
                <a:latin typeface="Consolas"/>
                <a:ea typeface="Consolas"/>
                <a:cs typeface="Consolas"/>
              </a:rPr>
              <a:t>[</a:t>
            </a:r>
            <a:r>
              <a:rPr sz="2000">
                <a:solidFill>
                  <a:srgbClr val="A31515"/>
                </a:solidFill>
                <a:latin typeface="Consolas"/>
                <a:ea typeface="Consolas"/>
                <a:cs typeface="Consolas"/>
              </a:rPr>
              <a:t>"npm"</a:t>
            </a:r>
            <a:r>
              <a:rPr sz="2000">
                <a:solidFill>
                  <a:srgbClr val="808080"/>
                </a:solidFill>
                <a:latin typeface="Consolas"/>
                <a:ea typeface="Consolas"/>
                <a:cs typeface="Consolas"/>
              </a:rPr>
              <a:t>,</a:t>
            </a:r>
            <a:r>
              <a:rPr sz="2000">
                <a:solidFill>
                  <a:srgbClr val="000000"/>
                </a:solidFill>
                <a:latin typeface="Consolas"/>
                <a:ea typeface="Consolas"/>
                <a:cs typeface="Consolas"/>
              </a:rPr>
              <a:t> </a:t>
            </a:r>
            <a:r>
              <a:rPr sz="2000">
                <a:solidFill>
                  <a:srgbClr val="A31515"/>
                </a:solidFill>
                <a:latin typeface="Consolas"/>
                <a:ea typeface="Consolas"/>
                <a:cs typeface="Consolas"/>
              </a:rPr>
              <a:t>"start"</a:t>
            </a:r>
            <a:r>
              <a:rPr sz="2000">
                <a:solidFill>
                  <a:srgbClr val="808080"/>
                </a:solidFill>
                <a:latin typeface="Consolas"/>
                <a:ea typeface="Consolas"/>
                <a:cs typeface="Consolas"/>
              </a:rPr>
              <a:t>]</a:t>
            </a:r>
            <a:endParaRPr sz="3600"/>
          </a:p>
        </p:txBody>
      </p:sp>
      <p:sp>
        <p:nvSpPr>
          <p:cNvPr id="1165738182" name=""/>
          <p:cNvSpPr txBox="1"/>
          <p:nvPr/>
        </p:nvSpPr>
        <p:spPr bwMode="auto">
          <a:xfrm rot="0" flipH="0" flipV="0">
            <a:off x="346225" y="1819803"/>
            <a:ext cx="7674163" cy="4087742"/>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just">
              <a:defRPr/>
            </a:pPr>
            <a:r>
              <a:rPr lang="tr-TR" sz="2400">
                <a:solidFill>
                  <a:schemeClr val="tx1">
                    <a:wordTint val="217"/>
                  </a:schemeClr>
                </a:solidFill>
                <a:latin typeface="Times New Roman"/>
                <a:ea typeface="Times New Roman"/>
                <a:cs typeface="Times New Roman"/>
              </a:rPr>
              <a:t>The dockerizatioon of the application requires the creation of Dockerfiles and Docker Compose YAML file explained below. You can reach all the recources and project codes from below GitHub link.</a:t>
            </a:r>
            <a:endParaRPr lang="tr-TR" sz="2400">
              <a:solidFill>
                <a:schemeClr val="tx1">
                  <a:wordTint val="217"/>
                </a:schemeClr>
              </a:solidFill>
              <a:latin typeface="Times New Roman"/>
              <a:ea typeface="Times New Roman"/>
              <a:cs typeface="Times New Roman"/>
            </a:endParaRPr>
          </a:p>
          <a:p>
            <a:pPr algn="just">
              <a:defRPr/>
            </a:pPr>
            <a:endParaRPr lang="tr-TR" sz="2400">
              <a:solidFill>
                <a:schemeClr val="tx1">
                  <a:wordTint val="217"/>
                </a:schemeClr>
              </a:solidFill>
              <a:latin typeface="Times New Roman"/>
              <a:ea typeface="Times New Roman"/>
              <a:cs typeface="Times New Roman"/>
            </a:endParaRPr>
          </a:p>
          <a:p>
            <a:pPr algn="just">
              <a:defRPr/>
            </a:pPr>
            <a:r>
              <a:rPr lang="tr-TR" sz="2400" u="sng">
                <a:solidFill>
                  <a:schemeClr val="accent1">
                    <a:wordShade val="191"/>
                  </a:schemeClr>
                </a:solidFill>
                <a:latin typeface="Times New Roman"/>
                <a:ea typeface="Times New Roman"/>
                <a:cs typeface="Times New Roman"/>
                <a:hlinkClick r:id="rId3" tooltip="https://github.com/ixtiyer/CENG560-DockerSimpleWebApp"/>
              </a:rPr>
              <a:t>https://github.com/ixtiyer/CENG560-DockerSimpleWebApp</a:t>
            </a:r>
            <a:endParaRPr sz="2800"/>
          </a:p>
          <a:p>
            <a:pPr algn="just">
              <a:defRPr/>
            </a:pPr>
            <a:endParaRPr sz="2200">
              <a:solidFill>
                <a:schemeClr val="accent1">
                  <a:wordShade val="191"/>
                </a:schemeClr>
              </a:solidFill>
              <a:latin typeface="Times New Roman"/>
              <a:cs typeface="Times New Roman"/>
            </a:endParaRPr>
          </a:p>
          <a:p>
            <a:pPr algn="just">
              <a:spcAft>
                <a:spcPts val="0"/>
              </a:spcAft>
              <a:defRPr/>
            </a:pPr>
            <a:r>
              <a:rPr lang="tr-TR" sz="2400" b="1" u="sng">
                <a:solidFill>
                  <a:schemeClr val="tx1">
                    <a:wordTint val="217"/>
                  </a:schemeClr>
                </a:solidFill>
                <a:latin typeface="Arial"/>
                <a:ea typeface="Arial"/>
                <a:cs typeface="Arial"/>
              </a:rPr>
              <a:t>Backend Dockerfile</a:t>
            </a:r>
            <a:endParaRPr lang="tr-TR" sz="2800">
              <a:solidFill>
                <a:schemeClr val="tx1">
                  <a:wordTint val="217"/>
                </a:schemeClr>
              </a:solidFill>
              <a:latin typeface="Arial"/>
              <a:ea typeface="Arial"/>
              <a:cs typeface="Arial"/>
            </a:endParaRPr>
          </a:p>
          <a:p>
            <a:pPr algn="just">
              <a:defRPr/>
            </a:pPr>
            <a:r>
              <a:rPr lang="tr-TR" sz="2400">
                <a:solidFill>
                  <a:schemeClr val="tx1">
                    <a:wordTint val="217"/>
                  </a:schemeClr>
                </a:solidFill>
                <a:latin typeface="Times New Roman"/>
                <a:ea typeface="Times New Roman"/>
                <a:cs typeface="Times New Roman"/>
              </a:rPr>
              <a:t>Backend dockerfile uses node as base image and after installing the backend project dependencies listed in </a:t>
            </a:r>
            <a:r>
              <a:rPr lang="tr-TR" sz="2200">
                <a:solidFill>
                  <a:schemeClr val="tx1">
                    <a:wordTint val="217"/>
                  </a:schemeClr>
                </a:solidFill>
                <a:latin typeface="Consolas"/>
                <a:ea typeface="Consolas"/>
                <a:cs typeface="Consolas"/>
              </a:rPr>
              <a:t>package.json</a:t>
            </a:r>
            <a:r>
              <a:rPr lang="tr-TR" sz="2400">
                <a:solidFill>
                  <a:schemeClr val="tx1">
                    <a:wordTint val="217"/>
                  </a:schemeClr>
                </a:solidFill>
                <a:latin typeface="Times New Roman"/>
                <a:ea typeface="Times New Roman"/>
                <a:cs typeface="Times New Roman"/>
              </a:rPr>
              <a:t> exposes port</a:t>
            </a:r>
            <a:r>
              <a:rPr lang="tr-TR" sz="2200">
                <a:solidFill>
                  <a:schemeClr val="tx1">
                    <a:wordTint val="217"/>
                  </a:schemeClr>
                </a:solidFill>
                <a:latin typeface="Consolas"/>
                <a:ea typeface="Consolas"/>
                <a:cs typeface="Consolas"/>
              </a:rPr>
              <a:t> 4000</a:t>
            </a:r>
            <a:r>
              <a:rPr lang="tr-TR" sz="2400">
                <a:solidFill>
                  <a:schemeClr val="tx1">
                    <a:wordTint val="217"/>
                  </a:schemeClr>
                </a:solidFill>
                <a:latin typeface="Times New Roman"/>
                <a:ea typeface="Times New Roman"/>
                <a:cs typeface="Times New Roman"/>
              </a:rPr>
              <a:t> to start an API server.</a:t>
            </a:r>
            <a:endParaRPr lang="tr-TR" sz="2400">
              <a:solidFill>
                <a:schemeClr val="tx1">
                  <a:wordTint val="217"/>
                </a:schemeClr>
              </a:solidFill>
              <a:latin typeface="Times New Roman"/>
              <a:ea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5230121" name=""/>
          <p:cNvSpPr/>
          <p:nvPr/>
        </p:nvSpPr>
        <p:spPr bwMode="auto">
          <a:xfrm rot="0" flipH="0" flipV="0">
            <a:off x="4763854" y="1286813"/>
            <a:ext cx="7368645" cy="4917665"/>
          </a:xfrm>
          <a:prstGeom prst="rect">
            <a:avLst/>
          </a:prstGeom>
          <a:solidFill>
            <a:schemeClr val="lt1"/>
          </a:solidFill>
          <a:ln w="6350">
            <a:solidFill>
              <a:prstClr val="black"/>
            </a:solidFill>
          </a:ln>
        </p:spPr>
        <p:txBody>
          <a:bodyPr vertOverflow="overflow" horzOverflow="overflow" vert="horz" wrap="square" lIns="91440" tIns="45720" rIns="91440" bIns="45720" numCol="1" spcCol="0" rtlCol="0" fromWordArt="0" anchor="t" anchorCtr="0" forceAA="0" upright="0" compatLnSpc="0"/>
          <a:p>
            <a:pPr marL="0" marR="0" indent="0">
              <a:spcAft>
                <a:spcPts val="0"/>
              </a:spcAft>
              <a:defRPr/>
            </a:pPr>
            <a:r>
              <a:rPr sz="2000">
                <a:solidFill>
                  <a:srgbClr val="008000"/>
                </a:solidFill>
                <a:latin typeface="Consolas"/>
                <a:ea typeface="Consolas"/>
                <a:cs typeface="Consolas"/>
              </a:rPr>
              <a:t># Build stage</a:t>
            </a:r>
            <a:endParaRPr sz="3600"/>
          </a:p>
          <a:p>
            <a:pPr marL="0" marR="0" indent="0">
              <a:spcAft>
                <a:spcPts val="0"/>
              </a:spcAft>
              <a:defRPr/>
            </a:pPr>
            <a:r>
              <a:rPr sz="2000">
                <a:solidFill>
                  <a:srgbClr val="0000FF"/>
                </a:solidFill>
                <a:latin typeface="Consolas"/>
                <a:ea typeface="Consolas"/>
                <a:cs typeface="Consolas"/>
              </a:rPr>
              <a:t>FROM</a:t>
            </a:r>
            <a:r>
              <a:rPr sz="2000">
                <a:solidFill>
                  <a:srgbClr val="000000"/>
                </a:solidFill>
                <a:latin typeface="Consolas"/>
                <a:ea typeface="Consolas"/>
                <a:cs typeface="Consolas"/>
              </a:rPr>
              <a:t> </a:t>
            </a:r>
            <a:r>
              <a:rPr sz="2000">
                <a:solidFill>
                  <a:srgbClr val="2B91AF"/>
                </a:solidFill>
                <a:latin typeface="Consolas"/>
                <a:ea typeface="Consolas"/>
                <a:cs typeface="Consolas"/>
              </a:rPr>
              <a:t>node</a:t>
            </a:r>
            <a:r>
              <a:rPr sz="2000">
                <a:solidFill>
                  <a:srgbClr val="000000"/>
                </a:solidFill>
                <a:latin typeface="Consolas"/>
                <a:ea typeface="Consolas"/>
                <a:cs typeface="Consolas"/>
              </a:rPr>
              <a:t>:20-alpine </a:t>
            </a:r>
            <a:r>
              <a:rPr sz="2000">
                <a:solidFill>
                  <a:srgbClr val="0000FF"/>
                </a:solidFill>
                <a:latin typeface="Consolas"/>
                <a:ea typeface="Consolas"/>
                <a:cs typeface="Consolas"/>
              </a:rPr>
              <a:t>AS</a:t>
            </a:r>
            <a:r>
              <a:rPr sz="2000">
                <a:solidFill>
                  <a:srgbClr val="000000"/>
                </a:solidFill>
                <a:latin typeface="Consolas"/>
                <a:ea typeface="Consolas"/>
                <a:cs typeface="Consolas"/>
              </a:rPr>
              <a:t> builder</a:t>
            </a:r>
            <a:endParaRPr sz="3600"/>
          </a:p>
          <a:p>
            <a:pPr marL="0" marR="0" indent="0">
              <a:spcAft>
                <a:spcPts val="0"/>
              </a:spcAft>
              <a:defRPr/>
            </a:pPr>
            <a:r>
              <a:rPr sz="2000">
                <a:solidFill>
                  <a:srgbClr val="0000FF"/>
                </a:solidFill>
                <a:latin typeface="Consolas"/>
                <a:ea typeface="Consolas"/>
                <a:cs typeface="Consolas"/>
              </a:rPr>
              <a:t>WORKDIR</a:t>
            </a:r>
            <a:r>
              <a:rPr sz="2000">
                <a:solidFill>
                  <a:srgbClr val="000000"/>
                </a:solidFill>
                <a:latin typeface="Consolas"/>
                <a:ea typeface="Consolas"/>
                <a:cs typeface="Consolas"/>
              </a:rPr>
              <a:t> </a:t>
            </a:r>
            <a:r>
              <a:rPr sz="2000">
                <a:solidFill>
                  <a:srgbClr val="808080"/>
                </a:solidFill>
                <a:latin typeface="Consolas"/>
                <a:ea typeface="Consolas"/>
                <a:cs typeface="Consolas"/>
              </a:rPr>
              <a:t>/app</a:t>
            </a:r>
            <a:endParaRPr sz="3600"/>
          </a:p>
          <a:p>
            <a:pPr marL="0" marR="0" indent="0">
              <a:spcAft>
                <a:spcPts val="0"/>
              </a:spcAft>
              <a:defRPr/>
            </a:pPr>
            <a:r>
              <a:rPr sz="2000">
                <a:solidFill>
                  <a:srgbClr val="0000FF"/>
                </a:solidFill>
                <a:latin typeface="Consolas"/>
                <a:ea typeface="Consolas"/>
                <a:cs typeface="Consolas"/>
              </a:rPr>
              <a:t>COPY</a:t>
            </a:r>
            <a:r>
              <a:rPr sz="2000">
                <a:solidFill>
                  <a:srgbClr val="000000"/>
                </a:solidFill>
                <a:latin typeface="Consolas"/>
                <a:ea typeface="Consolas"/>
                <a:cs typeface="Consolas"/>
              </a:rPr>
              <a:t> </a:t>
            </a:r>
            <a:r>
              <a:rPr sz="2000">
                <a:solidFill>
                  <a:srgbClr val="808080"/>
                </a:solidFill>
                <a:latin typeface="Consolas"/>
                <a:ea typeface="Consolas"/>
                <a:cs typeface="Consolas"/>
              </a:rPr>
              <a:t>package*.json</a:t>
            </a:r>
            <a:r>
              <a:rPr sz="2000">
                <a:solidFill>
                  <a:srgbClr val="000000"/>
                </a:solidFill>
                <a:latin typeface="Consolas"/>
                <a:ea typeface="Consolas"/>
                <a:cs typeface="Consolas"/>
              </a:rPr>
              <a:t> </a:t>
            </a:r>
            <a:r>
              <a:rPr sz="2000">
                <a:solidFill>
                  <a:srgbClr val="808080"/>
                </a:solidFill>
                <a:latin typeface="Consolas"/>
                <a:ea typeface="Consolas"/>
                <a:cs typeface="Consolas"/>
              </a:rPr>
              <a:t>./</a:t>
            </a:r>
            <a:endParaRPr sz="3600"/>
          </a:p>
          <a:p>
            <a:pPr marL="0" marR="0" indent="0">
              <a:spcAft>
                <a:spcPts val="0"/>
              </a:spcAft>
              <a:defRPr/>
            </a:pPr>
            <a:r>
              <a:rPr sz="2000">
                <a:solidFill>
                  <a:srgbClr val="0000FF"/>
                </a:solidFill>
                <a:latin typeface="Consolas"/>
                <a:ea typeface="Consolas"/>
                <a:cs typeface="Consolas"/>
              </a:rPr>
              <a:t>RUN</a:t>
            </a:r>
            <a:r>
              <a:rPr sz="2000">
                <a:solidFill>
                  <a:srgbClr val="000000"/>
                </a:solidFill>
                <a:latin typeface="Consolas"/>
                <a:ea typeface="Consolas"/>
                <a:cs typeface="Consolas"/>
              </a:rPr>
              <a:t> </a:t>
            </a:r>
            <a:r>
              <a:rPr sz="2000">
                <a:solidFill>
                  <a:srgbClr val="808080"/>
                </a:solidFill>
                <a:latin typeface="Consolas"/>
                <a:ea typeface="Consolas"/>
                <a:cs typeface="Consolas"/>
              </a:rPr>
              <a:t>npm</a:t>
            </a:r>
            <a:r>
              <a:rPr sz="2000">
                <a:solidFill>
                  <a:srgbClr val="000000"/>
                </a:solidFill>
                <a:latin typeface="Consolas"/>
                <a:ea typeface="Consolas"/>
                <a:cs typeface="Consolas"/>
              </a:rPr>
              <a:t> </a:t>
            </a:r>
            <a:r>
              <a:rPr sz="2000">
                <a:solidFill>
                  <a:srgbClr val="808080"/>
                </a:solidFill>
                <a:latin typeface="Consolas"/>
                <a:ea typeface="Consolas"/>
                <a:cs typeface="Consolas"/>
              </a:rPr>
              <a:t>install</a:t>
            </a:r>
            <a:endParaRPr sz="3600"/>
          </a:p>
          <a:p>
            <a:pPr marL="0" marR="0" indent="0">
              <a:spcAft>
                <a:spcPts val="0"/>
              </a:spcAft>
              <a:defRPr/>
            </a:pPr>
            <a:r>
              <a:rPr sz="2000">
                <a:solidFill>
                  <a:srgbClr val="0000FF"/>
                </a:solidFill>
                <a:latin typeface="Consolas"/>
                <a:ea typeface="Consolas"/>
                <a:cs typeface="Consolas"/>
              </a:rPr>
              <a:t>COPY</a:t>
            </a:r>
            <a:r>
              <a:rPr sz="2000">
                <a:solidFill>
                  <a:srgbClr val="000000"/>
                </a:solidFill>
                <a:latin typeface="Consolas"/>
                <a:ea typeface="Consolas"/>
                <a:cs typeface="Consolas"/>
              </a:rPr>
              <a:t> </a:t>
            </a:r>
            <a:r>
              <a:rPr sz="2000">
                <a:solidFill>
                  <a:srgbClr val="808080"/>
                </a:solidFill>
                <a:latin typeface="Consolas"/>
                <a:ea typeface="Consolas"/>
                <a:cs typeface="Consolas"/>
              </a:rPr>
              <a:t>.</a:t>
            </a:r>
            <a:r>
              <a:rPr sz="2000">
                <a:solidFill>
                  <a:srgbClr val="000000"/>
                </a:solidFill>
                <a:latin typeface="Consolas"/>
                <a:ea typeface="Consolas"/>
                <a:cs typeface="Consolas"/>
              </a:rPr>
              <a:t> </a:t>
            </a:r>
            <a:r>
              <a:rPr sz="2000">
                <a:solidFill>
                  <a:srgbClr val="808080"/>
                </a:solidFill>
                <a:latin typeface="Consolas"/>
                <a:ea typeface="Consolas"/>
                <a:cs typeface="Consolas"/>
              </a:rPr>
              <a:t>.</a:t>
            </a:r>
            <a:endParaRPr sz="2000">
              <a:solidFill>
                <a:srgbClr val="808080"/>
              </a:solidFill>
              <a:latin typeface="Consolas"/>
              <a:ea typeface="Consolas"/>
              <a:cs typeface="Consolas"/>
            </a:endParaRPr>
          </a:p>
          <a:p>
            <a:pPr marL="0" marR="0" indent="0">
              <a:spcAft>
                <a:spcPts val="0"/>
              </a:spcAft>
              <a:defRPr/>
            </a:pPr>
            <a:endParaRPr sz="2000">
              <a:solidFill>
                <a:srgbClr val="808080"/>
              </a:solidFill>
              <a:latin typeface="Consolas"/>
              <a:ea typeface="Consolas"/>
              <a:cs typeface="Consolas"/>
            </a:endParaRPr>
          </a:p>
          <a:p>
            <a:pPr marL="0" marR="0" indent="0">
              <a:spcAft>
                <a:spcPts val="0"/>
              </a:spcAft>
              <a:defRPr/>
            </a:pPr>
            <a:r>
              <a:rPr sz="2000">
                <a:solidFill>
                  <a:srgbClr val="008000"/>
                </a:solidFill>
                <a:latin typeface="Consolas"/>
                <a:ea typeface="Consolas"/>
                <a:cs typeface="Consolas"/>
              </a:rPr>
              <a:t># Serve stage </a:t>
            </a:r>
            <a:endParaRPr sz="3600"/>
          </a:p>
          <a:p>
            <a:pPr marL="0" marR="0" indent="0">
              <a:spcAft>
                <a:spcPts val="0"/>
              </a:spcAft>
              <a:defRPr/>
            </a:pPr>
            <a:r>
              <a:rPr sz="2000">
                <a:solidFill>
                  <a:srgbClr val="0000FF"/>
                </a:solidFill>
                <a:latin typeface="Consolas"/>
                <a:ea typeface="Consolas"/>
                <a:cs typeface="Consolas"/>
              </a:rPr>
              <a:t>FROM</a:t>
            </a:r>
            <a:r>
              <a:rPr sz="2000">
                <a:solidFill>
                  <a:srgbClr val="000000"/>
                </a:solidFill>
                <a:latin typeface="Consolas"/>
                <a:ea typeface="Consolas"/>
                <a:cs typeface="Consolas"/>
              </a:rPr>
              <a:t> </a:t>
            </a:r>
            <a:r>
              <a:rPr sz="2000">
                <a:solidFill>
                  <a:srgbClr val="2B91AF"/>
                </a:solidFill>
                <a:latin typeface="Consolas"/>
                <a:ea typeface="Consolas"/>
                <a:cs typeface="Consolas"/>
              </a:rPr>
              <a:t>nginx</a:t>
            </a:r>
            <a:r>
              <a:rPr sz="2000">
                <a:solidFill>
                  <a:srgbClr val="000000"/>
                </a:solidFill>
                <a:latin typeface="Consolas"/>
                <a:ea typeface="Consolas"/>
                <a:cs typeface="Consolas"/>
              </a:rPr>
              <a:t>:alpine</a:t>
            </a:r>
            <a:endParaRPr sz="3600"/>
          </a:p>
          <a:p>
            <a:pPr marL="0" marR="0" indent="0">
              <a:spcAft>
                <a:spcPts val="0"/>
              </a:spcAft>
              <a:defRPr/>
            </a:pPr>
            <a:r>
              <a:rPr sz="2000">
                <a:solidFill>
                  <a:srgbClr val="0000FF"/>
                </a:solidFill>
                <a:latin typeface="Consolas"/>
                <a:ea typeface="Consolas"/>
                <a:cs typeface="Consolas"/>
              </a:rPr>
              <a:t>COPY</a:t>
            </a:r>
            <a:r>
              <a:rPr sz="2000">
                <a:solidFill>
                  <a:srgbClr val="000000"/>
                </a:solidFill>
                <a:latin typeface="Consolas"/>
                <a:ea typeface="Consolas"/>
                <a:cs typeface="Consolas"/>
              </a:rPr>
              <a:t> </a:t>
            </a:r>
            <a:r>
              <a:rPr sz="2000">
                <a:solidFill>
                  <a:srgbClr val="808080"/>
                </a:solidFill>
                <a:latin typeface="Consolas"/>
                <a:ea typeface="Consolas"/>
                <a:cs typeface="Consolas"/>
              </a:rPr>
              <a:t>--from</a:t>
            </a:r>
            <a:r>
              <a:rPr sz="2000">
                <a:solidFill>
                  <a:srgbClr val="000000"/>
                </a:solidFill>
                <a:latin typeface="Consolas"/>
                <a:ea typeface="Consolas"/>
                <a:cs typeface="Consolas"/>
              </a:rPr>
              <a:t>=builder </a:t>
            </a:r>
            <a:r>
              <a:rPr sz="2000">
                <a:solidFill>
                  <a:srgbClr val="808080"/>
                </a:solidFill>
                <a:latin typeface="Consolas"/>
                <a:ea typeface="Consolas"/>
                <a:cs typeface="Consolas"/>
              </a:rPr>
              <a:t>/app/dist</a:t>
            </a:r>
            <a:r>
              <a:rPr sz="2000">
                <a:solidFill>
                  <a:srgbClr val="000000"/>
                </a:solidFill>
                <a:latin typeface="Consolas"/>
                <a:ea typeface="Consolas"/>
                <a:cs typeface="Consolas"/>
              </a:rPr>
              <a:t> </a:t>
            </a:r>
            <a:r>
              <a:rPr sz="2000">
                <a:solidFill>
                  <a:srgbClr val="808080"/>
                </a:solidFill>
                <a:latin typeface="Consolas"/>
                <a:ea typeface="Consolas"/>
                <a:cs typeface="Consolas"/>
              </a:rPr>
              <a:t>/usr/share/nginx/html</a:t>
            </a:r>
            <a:endParaRPr sz="3600"/>
          </a:p>
          <a:p>
            <a:pPr marL="0" marR="0" indent="0">
              <a:spcAft>
                <a:spcPts val="0"/>
              </a:spcAft>
              <a:defRPr/>
            </a:pPr>
            <a:r>
              <a:rPr sz="2000">
                <a:solidFill>
                  <a:srgbClr val="008000"/>
                </a:solidFill>
                <a:latin typeface="Consolas"/>
                <a:ea typeface="Consolas"/>
                <a:cs typeface="Consolas"/>
              </a:rPr>
              <a:t># Optional: custom nginx config for SPA routing</a:t>
            </a:r>
            <a:endParaRPr sz="3600"/>
          </a:p>
          <a:p>
            <a:pPr marL="0" marR="0" indent="0">
              <a:spcAft>
                <a:spcPts val="0"/>
              </a:spcAft>
              <a:defRPr/>
            </a:pPr>
            <a:r>
              <a:rPr sz="2000">
                <a:solidFill>
                  <a:srgbClr val="0000FF"/>
                </a:solidFill>
                <a:latin typeface="Consolas"/>
                <a:ea typeface="Consolas"/>
                <a:cs typeface="Consolas"/>
              </a:rPr>
              <a:t>COPY</a:t>
            </a:r>
            <a:r>
              <a:rPr sz="2000">
                <a:solidFill>
                  <a:srgbClr val="000000"/>
                </a:solidFill>
                <a:latin typeface="Consolas"/>
                <a:ea typeface="Consolas"/>
                <a:cs typeface="Consolas"/>
              </a:rPr>
              <a:t> </a:t>
            </a:r>
            <a:r>
              <a:rPr sz="2000">
                <a:solidFill>
                  <a:srgbClr val="808080"/>
                </a:solidFill>
                <a:latin typeface="Consolas"/>
                <a:ea typeface="Consolas"/>
                <a:cs typeface="Consolas"/>
              </a:rPr>
              <a:t>./nginx.conf</a:t>
            </a:r>
            <a:r>
              <a:rPr sz="2000">
                <a:solidFill>
                  <a:srgbClr val="000000"/>
                </a:solidFill>
                <a:latin typeface="Consolas"/>
                <a:ea typeface="Consolas"/>
                <a:cs typeface="Consolas"/>
              </a:rPr>
              <a:t> </a:t>
            </a:r>
            <a:r>
              <a:rPr sz="2000">
                <a:solidFill>
                  <a:srgbClr val="808080"/>
                </a:solidFill>
                <a:latin typeface="Consolas"/>
                <a:ea typeface="Consolas"/>
                <a:cs typeface="Consolas"/>
              </a:rPr>
              <a:t>/etc/nginx/conf.d/default.conf</a:t>
            </a:r>
            <a:endParaRPr sz="3600"/>
          </a:p>
          <a:p>
            <a:pPr marL="0" marR="0" indent="0">
              <a:spcAft>
                <a:spcPts val="0"/>
              </a:spcAft>
              <a:defRPr/>
            </a:pPr>
            <a:r>
              <a:rPr sz="2000">
                <a:solidFill>
                  <a:srgbClr val="0000FF"/>
                </a:solidFill>
                <a:latin typeface="Consolas"/>
                <a:ea typeface="Consolas"/>
                <a:cs typeface="Consolas"/>
              </a:rPr>
              <a:t>EXPOSE</a:t>
            </a:r>
            <a:r>
              <a:rPr sz="2000">
                <a:solidFill>
                  <a:srgbClr val="000000"/>
                </a:solidFill>
                <a:latin typeface="Consolas"/>
                <a:ea typeface="Consolas"/>
                <a:cs typeface="Consolas"/>
              </a:rPr>
              <a:t> </a:t>
            </a:r>
            <a:r>
              <a:rPr sz="2000">
                <a:solidFill>
                  <a:srgbClr val="808080"/>
                </a:solidFill>
                <a:latin typeface="Consolas"/>
                <a:ea typeface="Consolas"/>
                <a:cs typeface="Consolas"/>
              </a:rPr>
              <a:t>80</a:t>
            </a:r>
            <a:endParaRPr sz="3600"/>
          </a:p>
          <a:p>
            <a:pPr marL="0" marR="0" indent="0">
              <a:spcAft>
                <a:spcPts val="0"/>
              </a:spcAft>
              <a:defRPr/>
            </a:pPr>
            <a:endParaRPr sz="2000">
              <a:latin typeface="Consolas"/>
              <a:ea typeface="Consolas"/>
              <a:cs typeface="Consolas"/>
            </a:endParaRPr>
          </a:p>
        </p:txBody>
      </p:sp>
      <p:sp>
        <p:nvSpPr>
          <p:cNvPr id="23393815" name=""/>
          <p:cNvSpPr txBox="1"/>
          <p:nvPr/>
        </p:nvSpPr>
        <p:spPr bwMode="auto">
          <a:xfrm rot="0" flipH="0" flipV="0">
            <a:off x="256636" y="1286813"/>
            <a:ext cx="4216895" cy="4865871"/>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spcAft>
                <a:spcPts val="0"/>
              </a:spcAft>
              <a:defRPr/>
            </a:pPr>
            <a:r>
              <a:rPr lang="tr-TR" sz="2400" b="1" u="sng">
                <a:solidFill>
                  <a:schemeClr val="tx1">
                    <a:wordTint val="217"/>
                  </a:schemeClr>
                </a:solidFill>
                <a:latin typeface="Arial"/>
                <a:ea typeface="Arial"/>
                <a:cs typeface="Arial"/>
              </a:rPr>
              <a:t>Frontend Dockerfile</a:t>
            </a:r>
            <a:endParaRPr lang="tr-TR" sz="2400">
              <a:solidFill>
                <a:schemeClr val="tx1">
                  <a:wordTint val="217"/>
                </a:schemeClr>
              </a:solidFill>
              <a:latin typeface="Arial"/>
              <a:ea typeface="Arial"/>
              <a:cs typeface="Arial"/>
            </a:endParaRPr>
          </a:p>
          <a:p>
            <a:pPr algn="just">
              <a:defRPr/>
            </a:pPr>
            <a:r>
              <a:rPr lang="tr-TR" sz="2400">
                <a:solidFill>
                  <a:schemeClr val="tx1">
                    <a:wordTint val="217"/>
                  </a:schemeClr>
                </a:solidFill>
                <a:latin typeface="Times New Roman"/>
                <a:ea typeface="Times New Roman"/>
                <a:cs typeface="Times New Roman"/>
              </a:rPr>
              <a:t>Frontend</a:t>
            </a:r>
            <a:r>
              <a:rPr lang="tr-TR" sz="2400">
                <a:solidFill>
                  <a:schemeClr val="tx1">
                    <a:wordTint val="217"/>
                  </a:schemeClr>
                </a:solidFill>
                <a:latin typeface="Times New Roman"/>
                <a:ea typeface="Times New Roman"/>
                <a:cs typeface="Times New Roman"/>
              </a:rPr>
              <a:t> dockerfile on the other hand consists of two seperate stages. In the build stage node is once again pulled as the base image and then the frontend project dependencies listed in </a:t>
            </a:r>
            <a:r>
              <a:rPr lang="tr-TR" sz="2400">
                <a:solidFill>
                  <a:schemeClr val="tx1">
                    <a:wordTint val="217"/>
                  </a:schemeClr>
                </a:solidFill>
                <a:latin typeface="Consolas"/>
                <a:ea typeface="Consolas"/>
                <a:cs typeface="Consolas"/>
              </a:rPr>
              <a:t>package.json </a:t>
            </a:r>
            <a:r>
              <a:rPr lang="tr-TR" sz="2400">
                <a:solidFill>
                  <a:schemeClr val="tx1">
                    <a:wordTint val="217"/>
                  </a:schemeClr>
                </a:solidFill>
                <a:latin typeface="Times New Roman"/>
                <a:ea typeface="Times New Roman"/>
                <a:cs typeface="Times New Roman"/>
              </a:rPr>
              <a:t>are installed. The second stage uses nginx as the base image and creates arouting tbale for the base localhost port</a:t>
            </a:r>
            <a:r>
              <a:rPr lang="tr-TR" sz="2400">
                <a:solidFill>
                  <a:schemeClr val="tx1">
                    <a:wordTint val="217"/>
                  </a:schemeClr>
                </a:solidFill>
                <a:latin typeface="Consolas"/>
                <a:ea typeface="Consolas"/>
                <a:cs typeface="Consolas"/>
              </a:rPr>
              <a:t> 80 </a:t>
            </a:r>
            <a:r>
              <a:rPr lang="tr-TR" sz="2400">
                <a:solidFill>
                  <a:schemeClr val="tx1">
                    <a:wordTint val="217"/>
                  </a:schemeClr>
                </a:solidFill>
                <a:latin typeface="Times New Roman"/>
                <a:ea typeface="Times New Roman"/>
                <a:cs typeface="Times New Roman"/>
              </a:rPr>
              <a:t>to start an Nginx application.</a:t>
            </a:r>
            <a:endParaRPr sz="2000">
              <a:solidFill>
                <a:schemeClr val="tx1">
                  <a:wordTint val="217"/>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0353787" name=""/>
          <p:cNvSpPr/>
          <p:nvPr/>
        </p:nvSpPr>
        <p:spPr bwMode="auto">
          <a:xfrm rot="0" flipH="0" flipV="0">
            <a:off x="423333" y="672084"/>
            <a:ext cx="5901562" cy="5715000"/>
          </a:xfrm>
          <a:prstGeom prst="rect">
            <a:avLst/>
          </a:prstGeom>
          <a:solidFill>
            <a:schemeClr val="lt1"/>
          </a:solidFill>
          <a:ln w="6350">
            <a:solidFill>
              <a:prstClr val="black"/>
            </a:solidFill>
          </a:ln>
        </p:spPr>
        <p:txBody>
          <a:bodyPr vertOverflow="overflow" horzOverflow="overflow" vert="horz" wrap="square" lIns="91440" tIns="45720" rIns="91440" bIns="45720" numCol="1" spcCol="0" rtlCol="0" fromWordArt="0" anchor="t" anchorCtr="0" forceAA="0" upright="0" compatLnSpc="0"/>
          <a:p>
            <a:pPr marL="0" marR="0" indent="0">
              <a:spcAft>
                <a:spcPts val="0"/>
              </a:spcAft>
              <a:defRPr/>
            </a:pPr>
            <a:r>
              <a:rPr sz="2000">
                <a:solidFill>
                  <a:srgbClr val="800000"/>
                </a:solidFill>
                <a:latin typeface="Consolas"/>
                <a:ea typeface="Consolas"/>
                <a:cs typeface="Consolas"/>
              </a:rPr>
              <a:t>services</a:t>
            </a:r>
            <a:r>
              <a:rPr sz="2000">
                <a:solidFill>
                  <a:srgbClr val="000000"/>
                </a:solidFill>
                <a:latin typeface="Consolas"/>
                <a:ea typeface="Consolas"/>
                <a:cs typeface="Consolas"/>
              </a:rPr>
              <a:t>:</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db</a:t>
            </a:r>
            <a:r>
              <a:rPr sz="2000">
                <a:solidFill>
                  <a:srgbClr val="000000"/>
                </a:solidFill>
                <a:latin typeface="Consolas"/>
                <a:ea typeface="Consolas"/>
                <a:cs typeface="Consolas"/>
              </a:rPr>
              <a:t>:</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image</a:t>
            </a:r>
            <a:r>
              <a:rPr sz="2000">
                <a:solidFill>
                  <a:srgbClr val="000000"/>
                </a:solidFill>
                <a:latin typeface="Consolas"/>
                <a:ea typeface="Consolas"/>
                <a:cs typeface="Consolas"/>
              </a:rPr>
              <a:t>: </a:t>
            </a:r>
            <a:r>
              <a:rPr sz="2000">
                <a:solidFill>
                  <a:srgbClr val="0000FF"/>
                </a:solidFill>
                <a:latin typeface="Consolas"/>
                <a:ea typeface="Consolas"/>
                <a:cs typeface="Consolas"/>
              </a:rPr>
              <a:t>postgres:16-alpine</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container_name</a:t>
            </a:r>
            <a:r>
              <a:rPr sz="2000">
                <a:solidFill>
                  <a:srgbClr val="000000"/>
                </a:solidFill>
                <a:latin typeface="Consolas"/>
                <a:ea typeface="Consolas"/>
                <a:cs typeface="Consolas"/>
              </a:rPr>
              <a:t>: </a:t>
            </a:r>
            <a:r>
              <a:rPr sz="2000">
                <a:solidFill>
                  <a:srgbClr val="0000FF"/>
                </a:solidFill>
                <a:latin typeface="Consolas"/>
                <a:ea typeface="Consolas"/>
                <a:cs typeface="Consolas"/>
              </a:rPr>
              <a:t>shopdb</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environment</a:t>
            </a:r>
            <a:r>
              <a:rPr sz="2000">
                <a:solidFill>
                  <a:srgbClr val="000000"/>
                </a:solidFill>
                <a:latin typeface="Consolas"/>
                <a:ea typeface="Consolas"/>
                <a:cs typeface="Consolas"/>
              </a:rPr>
              <a:t>:</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POSTGRES_USER</a:t>
            </a:r>
            <a:r>
              <a:rPr sz="2000">
                <a:solidFill>
                  <a:srgbClr val="000000"/>
                </a:solidFill>
                <a:latin typeface="Consolas"/>
                <a:ea typeface="Consolas"/>
                <a:cs typeface="Consolas"/>
              </a:rPr>
              <a:t>: </a:t>
            </a:r>
            <a:r>
              <a:rPr sz="2000">
                <a:solidFill>
                  <a:srgbClr val="0000FF"/>
                </a:solidFill>
                <a:latin typeface="Consolas"/>
                <a:ea typeface="Consolas"/>
                <a:cs typeface="Consolas"/>
              </a:rPr>
              <a:t>postgres</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POSTGRES_PASSWORD</a:t>
            </a:r>
            <a:r>
              <a:rPr sz="2000">
                <a:solidFill>
                  <a:srgbClr val="000000"/>
                </a:solidFill>
                <a:latin typeface="Consolas"/>
                <a:ea typeface="Consolas"/>
                <a:cs typeface="Consolas"/>
              </a:rPr>
              <a:t>: </a:t>
            </a:r>
            <a:r>
              <a:rPr sz="2000">
                <a:solidFill>
                  <a:srgbClr val="0000FF"/>
                </a:solidFill>
                <a:latin typeface="Consolas"/>
                <a:ea typeface="Consolas"/>
                <a:cs typeface="Consolas"/>
              </a:rPr>
              <a:t>postgres</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POSTGRES_DB</a:t>
            </a:r>
            <a:r>
              <a:rPr sz="2000">
                <a:solidFill>
                  <a:srgbClr val="000000"/>
                </a:solidFill>
                <a:latin typeface="Consolas"/>
                <a:ea typeface="Consolas"/>
                <a:cs typeface="Consolas"/>
              </a:rPr>
              <a:t>: </a:t>
            </a:r>
            <a:r>
              <a:rPr sz="2000">
                <a:solidFill>
                  <a:srgbClr val="0000FF"/>
                </a:solidFill>
                <a:latin typeface="Consolas"/>
                <a:ea typeface="Consolas"/>
                <a:cs typeface="Consolas"/>
              </a:rPr>
              <a:t>shopdb</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ports</a:t>
            </a:r>
            <a:r>
              <a:rPr sz="2000">
                <a:solidFill>
                  <a:srgbClr val="000000"/>
                </a:solidFill>
                <a:latin typeface="Consolas"/>
                <a:ea typeface="Consolas"/>
                <a:cs typeface="Consolas"/>
              </a:rPr>
              <a:t>:</a:t>
            </a:r>
            <a:endParaRPr sz="3600"/>
          </a:p>
          <a:p>
            <a:pPr marL="0" marR="0" indent="0">
              <a:spcAft>
                <a:spcPts val="0"/>
              </a:spcAft>
              <a:defRPr/>
            </a:pPr>
            <a:r>
              <a:rPr sz="2000">
                <a:solidFill>
                  <a:srgbClr val="000000"/>
                </a:solidFill>
                <a:latin typeface="Consolas"/>
                <a:ea typeface="Consolas"/>
                <a:cs typeface="Consolas"/>
              </a:rPr>
              <a:t>      - </a:t>
            </a:r>
            <a:r>
              <a:rPr sz="2000">
                <a:solidFill>
                  <a:srgbClr val="A31515"/>
                </a:solidFill>
                <a:latin typeface="Consolas"/>
                <a:ea typeface="Consolas"/>
                <a:cs typeface="Consolas"/>
              </a:rPr>
              <a:t>"5432:5432"</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volumes</a:t>
            </a:r>
            <a:r>
              <a:rPr sz="2000">
                <a:solidFill>
                  <a:srgbClr val="000000"/>
                </a:solidFill>
                <a:latin typeface="Consolas"/>
                <a:ea typeface="Consolas"/>
                <a:cs typeface="Consolas"/>
              </a:rPr>
              <a:t>:</a:t>
            </a:r>
            <a:endParaRPr sz="3600"/>
          </a:p>
          <a:p>
            <a:pPr marL="0" marR="0" indent="0">
              <a:spcAft>
                <a:spcPts val="0"/>
              </a:spcAft>
              <a:defRPr/>
            </a:pPr>
            <a:r>
              <a:rPr sz="2000">
                <a:solidFill>
                  <a:srgbClr val="000000"/>
                </a:solidFill>
                <a:latin typeface="Consolas"/>
                <a:ea typeface="Consolas"/>
                <a:cs typeface="Consolas"/>
              </a:rPr>
              <a:t>      - </a:t>
            </a:r>
            <a:r>
              <a:rPr sz="2000">
                <a:solidFill>
                  <a:srgbClr val="0000FF"/>
                </a:solidFill>
                <a:latin typeface="Consolas"/>
                <a:ea typeface="Consolas"/>
                <a:cs typeface="Consolas"/>
              </a:rPr>
              <a:t>db_data:/var/lib/postgresql/data</a:t>
            </a:r>
            <a:endParaRPr sz="3600"/>
          </a:p>
          <a:p>
            <a:pPr marL="0" marR="0" indent="0">
              <a:spcAft>
                <a:spcPts val="0"/>
              </a:spcAft>
              <a:defRPr/>
            </a:pPr>
            <a:endParaRPr sz="2000"/>
          </a:p>
          <a:p>
            <a:pPr marL="0" marR="0" indent="0">
              <a:spcAft>
                <a:spcPts val="0"/>
              </a:spcAft>
              <a:defRPr/>
            </a:pPr>
            <a:r>
              <a:rPr lang="tr-TR" sz="2000" b="0" i="0" u="none" strike="noStrike" cap="none" spc="0">
                <a:solidFill>
                  <a:srgbClr val="800000"/>
                </a:solidFill>
                <a:latin typeface="Consolas"/>
                <a:ea typeface="Consolas"/>
                <a:cs typeface="Consolas"/>
              </a:rPr>
              <a:t>volumes</a:t>
            </a:r>
            <a:r>
              <a:rPr lang="tr-TR" sz="2000" b="0" i="0" u="none" strike="noStrike" cap="none" spc="0">
                <a:solidFill>
                  <a:srgbClr val="000000"/>
                </a:solidFill>
                <a:latin typeface="Consolas"/>
                <a:ea typeface="Consolas"/>
                <a:cs typeface="Consolas"/>
              </a:rPr>
              <a:t>:</a:t>
            </a:r>
            <a:endParaRPr lang="tr-TR" sz="2000" b="0" i="0" u="none" strike="noStrike" cap="none" spc="0">
              <a:solidFill>
                <a:srgbClr val="000000"/>
              </a:solidFill>
              <a:latin typeface="Times New Roman"/>
              <a:cs typeface="Times New Roman"/>
            </a:endParaRPr>
          </a:p>
          <a:p>
            <a:pPr marL="0" marR="0" indent="0">
              <a:spcAft>
                <a:spcPts val="0"/>
              </a:spcAft>
              <a:defRPr/>
            </a:pPr>
            <a:r>
              <a:rPr lang="tr-TR" sz="2000" b="0" i="0" u="none" strike="noStrike" cap="none" spc="0">
                <a:solidFill>
                  <a:srgbClr val="000000"/>
                </a:solidFill>
                <a:latin typeface="Consolas"/>
                <a:ea typeface="Consolas"/>
                <a:cs typeface="Consolas"/>
              </a:rPr>
              <a:t>  </a:t>
            </a:r>
            <a:r>
              <a:rPr lang="tr-TR" sz="2000" b="0" i="0" u="none" strike="noStrike" cap="none" spc="0">
                <a:solidFill>
                  <a:srgbClr val="800000"/>
                </a:solidFill>
                <a:latin typeface="Consolas"/>
                <a:ea typeface="Consolas"/>
                <a:cs typeface="Consolas"/>
              </a:rPr>
              <a:t>db_data</a:t>
            </a:r>
            <a:r>
              <a:rPr lang="tr-TR" sz="2000" b="0" i="0" u="none" strike="noStrike" cap="none" spc="0">
                <a:solidFill>
                  <a:srgbClr val="000000"/>
                </a:solidFill>
                <a:latin typeface="Consolas"/>
                <a:ea typeface="Consolas"/>
                <a:cs typeface="Consolas"/>
              </a:rPr>
              <a:t>:</a:t>
            </a:r>
            <a:endParaRPr sz="2000"/>
          </a:p>
          <a:p>
            <a:pPr marL="0" marR="0" indent="0">
              <a:spcAft>
                <a:spcPts val="0"/>
              </a:spcAft>
              <a:defRPr/>
            </a:pPr>
            <a:endParaRPr sz="1100">
              <a:latin typeface="Consolas"/>
              <a:ea typeface="Consolas"/>
              <a:cs typeface="Consolas"/>
            </a:endParaRPr>
          </a:p>
          <a:p>
            <a:pPr marL="0" marR="0" indent="0">
              <a:spcAft>
                <a:spcPts val="0"/>
              </a:spcAft>
              <a:defRPr/>
            </a:pPr>
            <a:endParaRPr sz="1100">
              <a:latin typeface="Consolas"/>
              <a:ea typeface="Consolas"/>
              <a:cs typeface="Consolas"/>
            </a:endParaRPr>
          </a:p>
        </p:txBody>
      </p:sp>
      <p:sp>
        <p:nvSpPr>
          <p:cNvPr id="109168121" name=""/>
          <p:cNvSpPr txBox="1"/>
          <p:nvPr/>
        </p:nvSpPr>
        <p:spPr bwMode="auto">
          <a:xfrm rot="0" flipH="0" flipV="0">
            <a:off x="6721770" y="443124"/>
            <a:ext cx="5265777" cy="5943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just">
              <a:spcAft>
                <a:spcPts val="0"/>
              </a:spcAft>
              <a:defRPr/>
            </a:pPr>
            <a:r>
              <a:rPr lang="tr-TR" sz="2400" b="1" u="sng">
                <a:solidFill>
                  <a:schemeClr val="tx1">
                    <a:wordTint val="217"/>
                  </a:schemeClr>
                </a:solidFill>
                <a:latin typeface="Arial"/>
                <a:ea typeface="Arial"/>
                <a:cs typeface="Arial"/>
              </a:rPr>
              <a:t>Docker Compose File</a:t>
            </a:r>
            <a:endParaRPr lang="tr-TR" sz="2800">
              <a:solidFill>
                <a:schemeClr val="tx1">
                  <a:wordTint val="217"/>
                </a:schemeClr>
              </a:solidFill>
              <a:latin typeface="Arial"/>
              <a:ea typeface="Arial"/>
              <a:cs typeface="Arial"/>
            </a:endParaRPr>
          </a:p>
          <a:p>
            <a:pPr algn="just">
              <a:defRPr/>
            </a:pPr>
            <a:r>
              <a:rPr lang="tr-TR" sz="2400">
                <a:solidFill>
                  <a:schemeClr val="tx1">
                    <a:wordTint val="217"/>
                  </a:schemeClr>
                </a:solidFill>
                <a:latin typeface="Times New Roman"/>
                <a:ea typeface="Times New Roman"/>
                <a:cs typeface="Times New Roman"/>
              </a:rPr>
              <a:t>In</a:t>
            </a:r>
            <a:r>
              <a:rPr lang="tr-TR" sz="2400">
                <a:solidFill>
                  <a:schemeClr val="tx1">
                    <a:wordTint val="217"/>
                  </a:schemeClr>
                </a:solidFill>
                <a:latin typeface="Times New Roman"/>
                <a:cs typeface="Times New Roman"/>
              </a:rPr>
              <a:t> this compose file there are 3 services and 1 volume is declared. The services are the postgres database service and its specificati</a:t>
            </a:r>
            <a:r>
              <a:rPr lang="tr-TR" sz="2400">
                <a:solidFill>
                  <a:schemeClr val="tx1">
                    <a:wordTint val="217"/>
                  </a:schemeClr>
                </a:solidFill>
                <a:latin typeface="Times New Roman"/>
                <a:cs typeface="Times New Roman"/>
              </a:rPr>
              <a:t>ons, backend service that is tied to the database service and is baked using the previous dockerfile and frontend service that is tied to the backend and is baked using the previous dockerfile. The volume is created to make the postgres storage persistent.</a:t>
            </a:r>
            <a:endParaRPr sz="2400">
              <a:solidFill>
                <a:schemeClr val="tx1">
                  <a:wordTint val="217"/>
                </a:schemeClr>
              </a:solidFill>
              <a:latin typeface="Times New Roman"/>
              <a:cs typeface="Times New Roman"/>
            </a:endParaRPr>
          </a:p>
          <a:p>
            <a:pPr algn="just">
              <a:spcAft>
                <a:spcPts val="0"/>
              </a:spcAft>
              <a:defRPr/>
            </a:pPr>
            <a:r>
              <a:rPr lang="tr-TR" sz="2400">
                <a:solidFill>
                  <a:schemeClr val="tx1">
                    <a:wordTint val="217"/>
                  </a:schemeClr>
                </a:solidFill>
                <a:latin typeface="Times New Roman"/>
                <a:ea typeface="Times New Roman"/>
                <a:cs typeface="Times New Roman"/>
              </a:rPr>
              <a:t>The project can be run using the following command.</a:t>
            </a:r>
            <a:endParaRPr lang="tr-TR" sz="2400">
              <a:solidFill>
                <a:schemeClr val="tx1">
                  <a:wordTint val="217"/>
                </a:schemeClr>
              </a:solidFill>
              <a:latin typeface="Times New Roman"/>
              <a:ea typeface="Times New Roman"/>
              <a:cs typeface="Times New Roman"/>
            </a:endParaRPr>
          </a:p>
          <a:p>
            <a:pPr algn="just">
              <a:defRPr/>
            </a:pPr>
            <a:r>
              <a:rPr lang="tr-TR" sz="2400" b="1">
                <a:solidFill>
                  <a:schemeClr val="tx1">
                    <a:wordTint val="217"/>
                  </a:schemeClr>
                </a:solidFill>
                <a:latin typeface="Consolas"/>
                <a:ea typeface="Consolas"/>
                <a:cs typeface="Consolas"/>
              </a:rPr>
              <a:t>docker compose up -d</a:t>
            </a:r>
            <a:r>
              <a:rPr lang="tr-TR" sz="2400" b="1">
                <a:solidFill>
                  <a:schemeClr val="tx1">
                    <a:wordTint val="217"/>
                  </a:schemeClr>
                </a:solidFill>
                <a:latin typeface="Consolas"/>
                <a:ea typeface="Consolas"/>
                <a:cs typeface="Consolas"/>
              </a:rPr>
              <a:t> </a:t>
            </a:r>
            <a:endParaRPr sz="2400" b="1">
              <a:solidFill>
                <a:schemeClr val="tx1">
                  <a:wordTint val="217"/>
                </a:schemeClr>
              </a:solidFill>
              <a:latin typeface="Consolas"/>
              <a:ea typeface="Consolas"/>
              <a:cs typeface="Consolas"/>
            </a:endParaRPr>
          </a:p>
          <a:p>
            <a:pPr algn="just">
              <a:defRPr/>
            </a:pPr>
            <a:r>
              <a:rPr lang="tr-TR" sz="2400">
                <a:solidFill>
                  <a:schemeClr val="tx1">
                    <a:wordTint val="166"/>
                  </a:schemeClr>
                </a:solidFill>
                <a:latin typeface="Times New Roman"/>
                <a:ea typeface="Times New Roman"/>
                <a:cs typeface="Times New Roman"/>
              </a:rPr>
              <a:t>-d flag is used to detach the docker process from the terminal</a:t>
            </a:r>
            <a:endParaRPr sz="2400">
              <a:solidFill>
                <a:schemeClr val="tx1">
                  <a:wordTint val="166"/>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9388754" name=""/>
          <p:cNvSpPr/>
          <p:nvPr/>
        </p:nvSpPr>
        <p:spPr bwMode="auto">
          <a:xfrm rot="0" flipH="0" flipV="0">
            <a:off x="1243541" y="171978"/>
            <a:ext cx="9566041" cy="3624791"/>
          </a:xfrm>
          <a:prstGeom prst="rect">
            <a:avLst/>
          </a:prstGeom>
          <a:solidFill>
            <a:schemeClr val="lt1"/>
          </a:solidFill>
          <a:ln w="6350">
            <a:solidFill>
              <a:prstClr val="black"/>
            </a:solidFill>
          </a:ln>
        </p:spPr>
        <p:txBody>
          <a:bodyPr vertOverflow="overflow" horzOverflow="overflow" vert="horz" wrap="square" lIns="91440" tIns="45720" rIns="91440" bIns="45720" numCol="1" spcCol="0" rtlCol="0" fromWordArt="0" anchor="t" anchorCtr="0" forceAA="0" upright="0" compatLnSpc="0"/>
          <a:p>
            <a:pPr marL="0" marR="0" indent="0">
              <a:spcAft>
                <a:spcPts val="0"/>
              </a:spcAft>
              <a:defRPr/>
            </a:pPr>
            <a:r>
              <a:rPr sz="2000">
                <a:solidFill>
                  <a:srgbClr val="800000"/>
                </a:solidFill>
                <a:latin typeface="Consolas"/>
                <a:ea typeface="Consolas"/>
                <a:cs typeface="Consolas"/>
              </a:rPr>
              <a:t>services</a:t>
            </a:r>
            <a:r>
              <a:rPr sz="2000">
                <a:solidFill>
                  <a:srgbClr val="000000"/>
                </a:solidFill>
                <a:latin typeface="Consolas"/>
                <a:ea typeface="Consolas"/>
                <a:cs typeface="Consolas"/>
              </a:rPr>
              <a:t>:</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backend</a:t>
            </a:r>
            <a:r>
              <a:rPr sz="2000">
                <a:solidFill>
                  <a:srgbClr val="000000"/>
                </a:solidFill>
                <a:latin typeface="Consolas"/>
                <a:ea typeface="Consolas"/>
                <a:cs typeface="Consolas"/>
              </a:rPr>
              <a:t>:</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build</a:t>
            </a:r>
            <a:r>
              <a:rPr sz="2000">
                <a:solidFill>
                  <a:srgbClr val="000000"/>
                </a:solidFill>
                <a:latin typeface="Consolas"/>
                <a:ea typeface="Consolas"/>
                <a:cs typeface="Consolas"/>
              </a:rPr>
              <a:t>: </a:t>
            </a:r>
            <a:r>
              <a:rPr sz="2000">
                <a:solidFill>
                  <a:srgbClr val="0000FF"/>
                </a:solidFill>
                <a:latin typeface="Consolas"/>
                <a:ea typeface="Consolas"/>
                <a:cs typeface="Consolas"/>
              </a:rPr>
              <a:t>./backend</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container_name</a:t>
            </a:r>
            <a:r>
              <a:rPr sz="2000">
                <a:solidFill>
                  <a:srgbClr val="000000"/>
                </a:solidFill>
                <a:latin typeface="Consolas"/>
                <a:ea typeface="Consolas"/>
                <a:cs typeface="Consolas"/>
              </a:rPr>
              <a:t>: </a:t>
            </a:r>
            <a:r>
              <a:rPr sz="2000">
                <a:solidFill>
                  <a:srgbClr val="0000FF"/>
                </a:solidFill>
                <a:latin typeface="Consolas"/>
                <a:ea typeface="Consolas"/>
                <a:cs typeface="Consolas"/>
              </a:rPr>
              <a:t>api</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environment</a:t>
            </a:r>
            <a:r>
              <a:rPr sz="2000">
                <a:solidFill>
                  <a:srgbClr val="000000"/>
                </a:solidFill>
                <a:latin typeface="Consolas"/>
                <a:ea typeface="Consolas"/>
                <a:cs typeface="Consolas"/>
              </a:rPr>
              <a:t>:</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DATABASE_URL</a:t>
            </a:r>
            <a:r>
              <a:rPr sz="2000">
                <a:solidFill>
                  <a:srgbClr val="000000"/>
                </a:solidFill>
                <a:latin typeface="Consolas"/>
                <a:ea typeface="Consolas"/>
                <a:cs typeface="Consolas"/>
              </a:rPr>
              <a:t>: </a:t>
            </a:r>
            <a:r>
              <a:rPr sz="2000">
                <a:solidFill>
                  <a:srgbClr val="0000FF"/>
                </a:solidFill>
                <a:latin typeface="Consolas"/>
                <a:ea typeface="Consolas"/>
                <a:cs typeface="Consolas"/>
              </a:rPr>
              <a:t>postgres://postgres:postgres@db:5432/shopdb</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PORT</a:t>
            </a:r>
            <a:r>
              <a:rPr sz="2000">
                <a:solidFill>
                  <a:srgbClr val="000000"/>
                </a:solidFill>
                <a:latin typeface="Consolas"/>
                <a:ea typeface="Consolas"/>
                <a:cs typeface="Consolas"/>
              </a:rPr>
              <a:t>: </a:t>
            </a:r>
            <a:r>
              <a:rPr sz="2000">
                <a:solidFill>
                  <a:srgbClr val="098658"/>
                </a:solidFill>
                <a:latin typeface="Consolas"/>
                <a:ea typeface="Consolas"/>
                <a:cs typeface="Consolas"/>
              </a:rPr>
              <a:t>4000</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depends_on</a:t>
            </a:r>
            <a:r>
              <a:rPr sz="2000">
                <a:solidFill>
                  <a:srgbClr val="000000"/>
                </a:solidFill>
                <a:latin typeface="Consolas"/>
                <a:ea typeface="Consolas"/>
                <a:cs typeface="Consolas"/>
              </a:rPr>
              <a:t>:</a:t>
            </a:r>
            <a:endParaRPr sz="3600"/>
          </a:p>
          <a:p>
            <a:pPr marL="0" marR="0" indent="0">
              <a:spcAft>
                <a:spcPts val="0"/>
              </a:spcAft>
              <a:defRPr/>
            </a:pPr>
            <a:r>
              <a:rPr sz="2000">
                <a:solidFill>
                  <a:srgbClr val="000000"/>
                </a:solidFill>
                <a:latin typeface="Consolas"/>
                <a:ea typeface="Consolas"/>
                <a:cs typeface="Consolas"/>
              </a:rPr>
              <a:t>      - </a:t>
            </a:r>
            <a:r>
              <a:rPr sz="2000">
                <a:solidFill>
                  <a:srgbClr val="0000FF"/>
                </a:solidFill>
                <a:latin typeface="Consolas"/>
                <a:ea typeface="Consolas"/>
                <a:cs typeface="Consolas"/>
              </a:rPr>
              <a:t>db</a:t>
            </a:r>
            <a:endParaRPr sz="3600"/>
          </a:p>
          <a:p>
            <a:pPr marL="0" marR="0" indent="0">
              <a:spcAft>
                <a:spcPts val="0"/>
              </a:spcAft>
              <a:defRPr/>
            </a:pPr>
            <a:r>
              <a:rPr sz="2000">
                <a:solidFill>
                  <a:srgbClr val="000000"/>
                </a:solidFill>
                <a:latin typeface="Consolas"/>
                <a:ea typeface="Consolas"/>
                <a:cs typeface="Consolas"/>
              </a:rPr>
              <a:t>    </a:t>
            </a:r>
            <a:r>
              <a:rPr sz="2000">
                <a:solidFill>
                  <a:srgbClr val="800000"/>
                </a:solidFill>
                <a:latin typeface="Consolas"/>
                <a:ea typeface="Consolas"/>
                <a:cs typeface="Consolas"/>
              </a:rPr>
              <a:t>ports</a:t>
            </a:r>
            <a:r>
              <a:rPr sz="2000">
                <a:solidFill>
                  <a:srgbClr val="000000"/>
                </a:solidFill>
                <a:latin typeface="Consolas"/>
                <a:ea typeface="Consolas"/>
                <a:cs typeface="Consolas"/>
              </a:rPr>
              <a:t>:</a:t>
            </a:r>
            <a:endParaRPr sz="3600"/>
          </a:p>
          <a:p>
            <a:pPr marL="0" marR="0" indent="0">
              <a:spcAft>
                <a:spcPts val="0"/>
              </a:spcAft>
              <a:defRPr/>
            </a:pPr>
            <a:r>
              <a:rPr sz="2000">
                <a:solidFill>
                  <a:srgbClr val="000000"/>
                </a:solidFill>
                <a:latin typeface="Consolas"/>
                <a:ea typeface="Consolas"/>
                <a:cs typeface="Consolas"/>
              </a:rPr>
              <a:t>      - </a:t>
            </a:r>
            <a:r>
              <a:rPr sz="2000">
                <a:solidFill>
                  <a:srgbClr val="A31515"/>
                </a:solidFill>
                <a:latin typeface="Consolas"/>
                <a:ea typeface="Consolas"/>
                <a:cs typeface="Consolas"/>
              </a:rPr>
              <a:t>"4000:4000"</a:t>
            </a:r>
            <a:endParaRPr sz="3600"/>
          </a:p>
          <a:p>
            <a:pPr marL="0" marR="0" indent="0">
              <a:spcAft>
                <a:spcPts val="0"/>
              </a:spcAft>
              <a:defRPr/>
            </a:pPr>
            <a:endParaRPr sz="1100">
              <a:latin typeface="Consolas"/>
              <a:ea typeface="Consolas"/>
              <a:cs typeface="Consolas"/>
            </a:endParaRPr>
          </a:p>
          <a:p>
            <a:pPr marL="0" marR="0" indent="0">
              <a:spcAft>
                <a:spcPts val="0"/>
              </a:spcAft>
              <a:defRPr/>
            </a:pPr>
            <a:endParaRPr sz="900">
              <a:latin typeface="Consolas"/>
              <a:ea typeface="Consolas"/>
              <a:cs typeface="Consolas"/>
            </a:endParaRPr>
          </a:p>
        </p:txBody>
      </p:sp>
      <p:sp>
        <p:nvSpPr>
          <p:cNvPr id="1935204253" name=""/>
          <p:cNvSpPr txBox="1"/>
          <p:nvPr/>
        </p:nvSpPr>
        <p:spPr bwMode="auto">
          <a:xfrm rot="0" flipH="0" flipV="0">
            <a:off x="323426" y="3968749"/>
            <a:ext cx="11406630" cy="22863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just">
              <a:spcAft>
                <a:spcPts val="0"/>
              </a:spcAft>
              <a:defRPr/>
            </a:pPr>
            <a:r>
              <a:rPr lang="tr-TR" sz="2400" b="1" u="sng">
                <a:solidFill>
                  <a:schemeClr val="tx1">
                    <a:wordTint val="217"/>
                  </a:schemeClr>
                </a:solidFill>
                <a:latin typeface="Arial"/>
                <a:ea typeface="Arial"/>
                <a:cs typeface="Arial"/>
              </a:rPr>
              <a:t>Docker Compose File</a:t>
            </a:r>
            <a:endParaRPr lang="tr-TR" sz="2800">
              <a:solidFill>
                <a:schemeClr val="tx1">
                  <a:wordTint val="217"/>
                </a:schemeClr>
              </a:solidFill>
              <a:latin typeface="Arial"/>
              <a:ea typeface="Arial"/>
              <a:cs typeface="Arial"/>
            </a:endParaRPr>
          </a:p>
          <a:p>
            <a:pPr algn="just">
              <a:defRPr/>
            </a:pPr>
            <a:r>
              <a:rPr lang="tr-TR" sz="2400">
                <a:solidFill>
                  <a:schemeClr val="tx1">
                    <a:wordTint val="217"/>
                  </a:schemeClr>
                </a:solidFill>
                <a:latin typeface="Times New Roman"/>
                <a:ea typeface="Times New Roman"/>
                <a:cs typeface="Times New Roman"/>
              </a:rPr>
              <a:t>In</a:t>
            </a:r>
            <a:r>
              <a:rPr lang="tr-TR" sz="2400">
                <a:solidFill>
                  <a:schemeClr val="tx1">
                    <a:wordTint val="217"/>
                  </a:schemeClr>
                </a:solidFill>
                <a:latin typeface="Times New Roman"/>
                <a:cs typeface="Times New Roman"/>
              </a:rPr>
              <a:t> this compose file there are 3 services and 1 volume is declared. The services are the postgres database service and its specificati</a:t>
            </a:r>
            <a:r>
              <a:rPr lang="tr-TR" sz="2400">
                <a:solidFill>
                  <a:schemeClr val="tx1">
                    <a:wordTint val="217"/>
                  </a:schemeClr>
                </a:solidFill>
                <a:latin typeface="Times New Roman"/>
                <a:cs typeface="Times New Roman"/>
              </a:rPr>
              <a:t>ons, backend service that is tied to the database service and is baked using the previous dockerfile and frontend service that is tied to the backend and is baked using the previous dockerfile. The volume is created to make the postgres storage persistent.</a:t>
            </a:r>
            <a:endParaRPr sz="2400">
              <a:solidFill>
                <a:schemeClr val="tx1">
                  <a:wordTint val="217"/>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1719650" name=""/>
          <p:cNvSpPr/>
          <p:nvPr/>
        </p:nvSpPr>
        <p:spPr bwMode="auto">
          <a:xfrm rot="0" flipH="0" flipV="0">
            <a:off x="463020" y="1627187"/>
            <a:ext cx="3480624" cy="2976562"/>
          </a:xfrm>
          <a:prstGeom prst="rect">
            <a:avLst/>
          </a:prstGeom>
          <a:solidFill>
            <a:schemeClr val="lt1"/>
          </a:solidFill>
          <a:ln w="6350">
            <a:solidFill>
              <a:prstClr val="black"/>
            </a:solidFill>
          </a:ln>
        </p:spPr>
        <p:txBody>
          <a:bodyPr vertOverflow="overflow" horzOverflow="overflow" vert="horz" wrap="square" lIns="91440" tIns="45720" rIns="91440" bIns="45720" numCol="1" spcCol="0" rtlCol="0" fromWordArt="0" anchor="t" anchorCtr="0" forceAA="0" upright="0" compatLnSpc="0"/>
          <a:p>
            <a:pPr marL="0" marR="0" indent="0">
              <a:spcAft>
                <a:spcPts val="0"/>
              </a:spcAft>
              <a:defRPr/>
            </a:pPr>
            <a:r>
              <a:rPr sz="1600">
                <a:solidFill>
                  <a:srgbClr val="800000"/>
                </a:solidFill>
                <a:latin typeface="Consolas"/>
                <a:ea typeface="Consolas"/>
                <a:cs typeface="Consolas"/>
              </a:rPr>
              <a:t>services:</a:t>
            </a:r>
            <a:endParaRPr sz="1600">
              <a:solidFill>
                <a:srgbClr val="800000"/>
              </a:solidFill>
              <a:latin typeface="Consolas"/>
              <a:ea typeface="Consolas"/>
              <a:cs typeface="Consolas"/>
            </a:endParaRPr>
          </a:p>
          <a:p>
            <a:pPr marL="0" marR="0" indent="0">
              <a:spcAft>
                <a:spcPts val="0"/>
              </a:spcAft>
              <a:defRPr/>
            </a:pPr>
            <a:r>
              <a:rPr sz="1600">
                <a:solidFill>
                  <a:srgbClr val="800000"/>
                </a:solidFill>
                <a:latin typeface="Consolas"/>
                <a:ea typeface="Consolas"/>
                <a:cs typeface="Consolas"/>
              </a:rPr>
              <a:t>  frontend</a:t>
            </a:r>
            <a:r>
              <a:rPr sz="1600">
                <a:solidFill>
                  <a:srgbClr val="000000"/>
                </a:solidFill>
                <a:latin typeface="Consolas"/>
                <a:ea typeface="Consolas"/>
                <a:cs typeface="Consolas"/>
              </a:rPr>
              <a:t>:</a:t>
            </a:r>
            <a:endParaRPr sz="1600">
              <a:solidFill>
                <a:srgbClr val="000000"/>
              </a:solidFill>
              <a:latin typeface="Consolas"/>
              <a:ea typeface="Consolas"/>
              <a:cs typeface="Consolas"/>
            </a:endParaRPr>
          </a:p>
          <a:p>
            <a:pPr marL="0" marR="0" indent="0">
              <a:spcAft>
                <a:spcPts val="0"/>
              </a:spcAft>
              <a:defRPr/>
            </a:pPr>
            <a:r>
              <a:rPr sz="1600">
                <a:solidFill>
                  <a:srgbClr val="000000"/>
                </a:solidFill>
                <a:latin typeface="Consolas"/>
                <a:ea typeface="Consolas"/>
                <a:cs typeface="Consolas"/>
              </a:rPr>
              <a:t>    </a:t>
            </a:r>
            <a:r>
              <a:rPr sz="1600">
                <a:solidFill>
                  <a:srgbClr val="800000"/>
                </a:solidFill>
                <a:latin typeface="Consolas"/>
                <a:ea typeface="Consolas"/>
                <a:cs typeface="Consolas"/>
              </a:rPr>
              <a:t>build</a:t>
            </a:r>
            <a:r>
              <a:rPr sz="1600">
                <a:solidFill>
                  <a:srgbClr val="000000"/>
                </a:solidFill>
                <a:latin typeface="Consolas"/>
                <a:ea typeface="Consolas"/>
                <a:cs typeface="Consolas"/>
              </a:rPr>
              <a:t>: </a:t>
            </a:r>
            <a:r>
              <a:rPr sz="1600">
                <a:solidFill>
                  <a:srgbClr val="0000FF"/>
                </a:solidFill>
                <a:latin typeface="Consolas"/>
                <a:ea typeface="Consolas"/>
                <a:cs typeface="Consolas"/>
              </a:rPr>
              <a:t>./frontend</a:t>
            </a:r>
            <a:endParaRPr sz="2600"/>
          </a:p>
          <a:p>
            <a:pPr marL="0" marR="0" indent="0">
              <a:spcAft>
                <a:spcPts val="0"/>
              </a:spcAft>
              <a:defRPr/>
            </a:pPr>
            <a:r>
              <a:rPr sz="1600">
                <a:solidFill>
                  <a:srgbClr val="000000"/>
                </a:solidFill>
                <a:latin typeface="Consolas"/>
                <a:ea typeface="Consolas"/>
                <a:cs typeface="Consolas"/>
              </a:rPr>
              <a:t>    </a:t>
            </a:r>
            <a:r>
              <a:rPr sz="1600">
                <a:solidFill>
                  <a:srgbClr val="800000"/>
                </a:solidFill>
                <a:latin typeface="Consolas"/>
                <a:ea typeface="Consolas"/>
                <a:cs typeface="Consolas"/>
              </a:rPr>
              <a:t>container_name</a:t>
            </a:r>
            <a:r>
              <a:rPr sz="1600">
                <a:solidFill>
                  <a:srgbClr val="000000"/>
                </a:solidFill>
                <a:latin typeface="Consolas"/>
                <a:ea typeface="Consolas"/>
                <a:cs typeface="Consolas"/>
              </a:rPr>
              <a:t>: </a:t>
            </a:r>
            <a:r>
              <a:rPr sz="1600">
                <a:solidFill>
                  <a:srgbClr val="0000FF"/>
                </a:solidFill>
                <a:latin typeface="Consolas"/>
                <a:ea typeface="Consolas"/>
                <a:cs typeface="Consolas"/>
              </a:rPr>
              <a:t>web</a:t>
            </a:r>
            <a:endParaRPr sz="2600"/>
          </a:p>
          <a:p>
            <a:pPr marL="0" marR="0" indent="0">
              <a:spcAft>
                <a:spcPts val="0"/>
              </a:spcAft>
              <a:defRPr/>
            </a:pPr>
            <a:r>
              <a:rPr sz="1600">
                <a:solidFill>
                  <a:srgbClr val="000000"/>
                </a:solidFill>
                <a:latin typeface="Consolas"/>
                <a:ea typeface="Consolas"/>
                <a:cs typeface="Consolas"/>
              </a:rPr>
              <a:t>    </a:t>
            </a:r>
            <a:r>
              <a:rPr sz="1600">
                <a:solidFill>
                  <a:srgbClr val="800000"/>
                </a:solidFill>
                <a:latin typeface="Consolas"/>
                <a:ea typeface="Consolas"/>
                <a:cs typeface="Consolas"/>
              </a:rPr>
              <a:t>depends_on</a:t>
            </a:r>
            <a:r>
              <a:rPr sz="1600">
                <a:solidFill>
                  <a:srgbClr val="000000"/>
                </a:solidFill>
                <a:latin typeface="Consolas"/>
                <a:ea typeface="Consolas"/>
                <a:cs typeface="Consolas"/>
              </a:rPr>
              <a:t>:</a:t>
            </a:r>
            <a:endParaRPr sz="2600"/>
          </a:p>
          <a:p>
            <a:pPr marL="0" marR="0" indent="0">
              <a:spcAft>
                <a:spcPts val="0"/>
              </a:spcAft>
              <a:defRPr/>
            </a:pPr>
            <a:r>
              <a:rPr sz="1600">
                <a:solidFill>
                  <a:srgbClr val="000000"/>
                </a:solidFill>
                <a:latin typeface="Consolas"/>
                <a:ea typeface="Consolas"/>
                <a:cs typeface="Consolas"/>
              </a:rPr>
              <a:t>      - </a:t>
            </a:r>
            <a:r>
              <a:rPr sz="1600">
                <a:solidFill>
                  <a:srgbClr val="0000FF"/>
                </a:solidFill>
                <a:latin typeface="Consolas"/>
                <a:ea typeface="Consolas"/>
                <a:cs typeface="Consolas"/>
              </a:rPr>
              <a:t>backend</a:t>
            </a:r>
            <a:endParaRPr sz="2600"/>
          </a:p>
          <a:p>
            <a:pPr marL="0" marR="0" indent="0">
              <a:spcAft>
                <a:spcPts val="0"/>
              </a:spcAft>
              <a:defRPr/>
            </a:pPr>
            <a:r>
              <a:rPr sz="1600">
                <a:solidFill>
                  <a:srgbClr val="000000"/>
                </a:solidFill>
                <a:latin typeface="Consolas"/>
                <a:ea typeface="Consolas"/>
                <a:cs typeface="Consolas"/>
              </a:rPr>
              <a:t>    </a:t>
            </a:r>
            <a:r>
              <a:rPr sz="1600">
                <a:solidFill>
                  <a:srgbClr val="800000"/>
                </a:solidFill>
                <a:latin typeface="Consolas"/>
                <a:ea typeface="Consolas"/>
                <a:cs typeface="Consolas"/>
              </a:rPr>
              <a:t>ports</a:t>
            </a:r>
            <a:r>
              <a:rPr sz="1600">
                <a:solidFill>
                  <a:srgbClr val="000000"/>
                </a:solidFill>
                <a:latin typeface="Consolas"/>
                <a:ea typeface="Consolas"/>
                <a:cs typeface="Consolas"/>
              </a:rPr>
              <a:t>:</a:t>
            </a:r>
            <a:endParaRPr sz="2600"/>
          </a:p>
          <a:p>
            <a:pPr marL="0" marR="0" indent="0">
              <a:spcAft>
                <a:spcPts val="0"/>
              </a:spcAft>
              <a:defRPr/>
            </a:pPr>
            <a:r>
              <a:rPr sz="1600">
                <a:solidFill>
                  <a:srgbClr val="000000"/>
                </a:solidFill>
                <a:latin typeface="Consolas"/>
                <a:ea typeface="Consolas"/>
                <a:cs typeface="Consolas"/>
              </a:rPr>
              <a:t>      - </a:t>
            </a:r>
            <a:r>
              <a:rPr sz="1600">
                <a:solidFill>
                  <a:srgbClr val="A31515"/>
                </a:solidFill>
                <a:latin typeface="Consolas"/>
                <a:ea typeface="Consolas"/>
                <a:cs typeface="Consolas"/>
              </a:rPr>
              <a:t>"80:80"</a:t>
            </a:r>
            <a:endParaRPr sz="2600"/>
          </a:p>
          <a:p>
            <a:pPr marL="0" marR="0" indent="0">
              <a:spcAft>
                <a:spcPts val="0"/>
              </a:spcAft>
              <a:defRPr/>
            </a:pPr>
            <a:endParaRPr sz="1400"/>
          </a:p>
          <a:p>
            <a:pPr marL="0" marR="0" indent="0">
              <a:spcAft>
                <a:spcPts val="0"/>
              </a:spcAft>
              <a:defRPr/>
            </a:pPr>
            <a:endParaRPr sz="900">
              <a:latin typeface="Consolas"/>
              <a:ea typeface="Consolas"/>
              <a:cs typeface="Consolas"/>
            </a:endParaRPr>
          </a:p>
          <a:p>
            <a:pPr marL="0" marR="0" indent="0">
              <a:spcAft>
                <a:spcPts val="0"/>
              </a:spcAft>
              <a:defRPr/>
            </a:pPr>
            <a:endParaRPr sz="900">
              <a:latin typeface="Consolas"/>
              <a:ea typeface="Consolas"/>
              <a:cs typeface="Consolas"/>
            </a:endParaRPr>
          </a:p>
        </p:txBody>
      </p:sp>
      <p:sp>
        <p:nvSpPr>
          <p:cNvPr id="1465677022" name=""/>
          <p:cNvSpPr txBox="1"/>
          <p:nvPr/>
        </p:nvSpPr>
        <p:spPr bwMode="auto">
          <a:xfrm rot="0" flipH="0" flipV="0">
            <a:off x="4697708" y="1183957"/>
            <a:ext cx="6761392" cy="484668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just">
              <a:spcAft>
                <a:spcPts val="0"/>
              </a:spcAft>
              <a:defRPr/>
            </a:pPr>
            <a:r>
              <a:rPr lang="tr-TR" sz="2400" b="1" u="sng">
                <a:solidFill>
                  <a:schemeClr val="tx1">
                    <a:wordTint val="217"/>
                  </a:schemeClr>
                </a:solidFill>
                <a:latin typeface="Arial"/>
                <a:ea typeface="Arial"/>
                <a:cs typeface="Arial"/>
              </a:rPr>
              <a:t>Docker Compose File</a:t>
            </a:r>
            <a:endParaRPr lang="tr-TR" sz="2800">
              <a:solidFill>
                <a:schemeClr val="tx1">
                  <a:wordTint val="217"/>
                </a:schemeClr>
              </a:solidFill>
              <a:latin typeface="Arial"/>
              <a:ea typeface="Arial"/>
              <a:cs typeface="Arial"/>
            </a:endParaRPr>
          </a:p>
          <a:p>
            <a:pPr algn="just">
              <a:defRPr/>
            </a:pPr>
            <a:r>
              <a:rPr lang="tr-TR" sz="2400">
                <a:solidFill>
                  <a:schemeClr val="tx1">
                    <a:wordTint val="217"/>
                  </a:schemeClr>
                </a:solidFill>
                <a:latin typeface="Times New Roman"/>
                <a:ea typeface="Times New Roman"/>
                <a:cs typeface="Times New Roman"/>
              </a:rPr>
              <a:t>In</a:t>
            </a:r>
            <a:r>
              <a:rPr lang="tr-TR" sz="2400">
                <a:solidFill>
                  <a:schemeClr val="tx1">
                    <a:wordTint val="217"/>
                  </a:schemeClr>
                </a:solidFill>
                <a:latin typeface="Times New Roman"/>
                <a:cs typeface="Times New Roman"/>
              </a:rPr>
              <a:t> this compose file there are 3 services and 1 volume is declared. The services are the postgres database service and its specificati</a:t>
            </a:r>
            <a:r>
              <a:rPr lang="tr-TR" sz="2400">
                <a:solidFill>
                  <a:schemeClr val="tx1">
                    <a:wordTint val="217"/>
                  </a:schemeClr>
                </a:solidFill>
                <a:latin typeface="Times New Roman"/>
                <a:cs typeface="Times New Roman"/>
              </a:rPr>
              <a:t>ons, backend service that is tied to the database service and is baked using the previous dockerfile and frontend service that is tied to the backend and is baked using the previous dockerfile. The volume is created to make the postgres storage persistent.</a:t>
            </a:r>
            <a:endParaRPr sz="2400">
              <a:solidFill>
                <a:schemeClr val="tx1">
                  <a:wordTint val="217"/>
                </a:schemeClr>
              </a:solidFill>
              <a:latin typeface="Times New Roman"/>
              <a:cs typeface="Times New Roman"/>
            </a:endParaRPr>
          </a:p>
          <a:p>
            <a:pPr algn="just">
              <a:spcAft>
                <a:spcPts val="0"/>
              </a:spcAft>
              <a:defRPr/>
            </a:pPr>
            <a:r>
              <a:rPr lang="tr-TR" sz="2400">
                <a:solidFill>
                  <a:schemeClr val="tx1">
                    <a:wordTint val="217"/>
                  </a:schemeClr>
                </a:solidFill>
                <a:latin typeface="Times New Roman"/>
                <a:ea typeface="Times New Roman"/>
                <a:cs typeface="Times New Roman"/>
              </a:rPr>
              <a:t>The project can be run using the following command.</a:t>
            </a:r>
            <a:endParaRPr lang="tr-TR" sz="2400">
              <a:solidFill>
                <a:schemeClr val="tx1">
                  <a:wordTint val="217"/>
                </a:schemeClr>
              </a:solidFill>
              <a:latin typeface="Times New Roman"/>
              <a:ea typeface="Times New Roman"/>
              <a:cs typeface="Times New Roman"/>
            </a:endParaRPr>
          </a:p>
          <a:p>
            <a:pPr algn="just">
              <a:defRPr/>
            </a:pPr>
            <a:r>
              <a:rPr lang="tr-TR" sz="2400" b="1">
                <a:solidFill>
                  <a:schemeClr val="tx1">
                    <a:wordTint val="217"/>
                  </a:schemeClr>
                </a:solidFill>
                <a:latin typeface="Consolas"/>
                <a:ea typeface="Consolas"/>
                <a:cs typeface="Consolas"/>
              </a:rPr>
              <a:t>docker compose up -d</a:t>
            </a:r>
            <a:r>
              <a:rPr lang="tr-TR" sz="2400" b="1">
                <a:solidFill>
                  <a:schemeClr val="tx1">
                    <a:wordTint val="217"/>
                  </a:schemeClr>
                </a:solidFill>
                <a:latin typeface="Consolas"/>
                <a:ea typeface="Consolas"/>
                <a:cs typeface="Consolas"/>
              </a:rPr>
              <a:t> </a:t>
            </a:r>
            <a:endParaRPr sz="2400" b="1">
              <a:solidFill>
                <a:schemeClr val="tx1">
                  <a:wordTint val="217"/>
                </a:schemeClr>
              </a:solidFill>
              <a:latin typeface="Consolas"/>
              <a:ea typeface="Consolas"/>
              <a:cs typeface="Consolas"/>
            </a:endParaRPr>
          </a:p>
          <a:p>
            <a:pPr algn="just">
              <a:defRPr/>
            </a:pPr>
            <a:r>
              <a:rPr lang="tr-TR" sz="2400">
                <a:solidFill>
                  <a:schemeClr val="tx1">
                    <a:wordTint val="166"/>
                  </a:schemeClr>
                </a:solidFill>
                <a:latin typeface="Times New Roman"/>
                <a:ea typeface="Times New Roman"/>
                <a:cs typeface="Times New Roman"/>
              </a:rPr>
              <a:t>-d flag is used to detach the docker process from the terminal</a:t>
            </a:r>
            <a:endParaRPr sz="2400">
              <a:solidFill>
                <a:schemeClr val="tx1">
                  <a:wordTint val="166"/>
                </a:schemeClr>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7902577" name="Başlık 1"/>
          <p:cNvSpPr>
            <a:spLocks noGrp="1"/>
          </p:cNvSpPr>
          <p:nvPr>
            <p:ph type="title"/>
          </p:nvPr>
        </p:nvSpPr>
        <p:spPr bwMode="auto"/>
        <p:txBody>
          <a:bodyPr/>
          <a:lstStyle/>
          <a:p>
            <a:pPr>
              <a:defRPr/>
            </a:pPr>
            <a:r>
              <a:rPr/>
              <a:t>Conclusions</a:t>
            </a:r>
            <a:endParaRPr/>
          </a:p>
        </p:txBody>
      </p:sp>
      <p:sp>
        <p:nvSpPr>
          <p:cNvPr id="803347939" name="İçerik Yer Tutucusu 2"/>
          <p:cNvSpPr>
            <a:spLocks noGrp="1"/>
          </p:cNvSpPr>
          <p:nvPr>
            <p:ph idx="1"/>
          </p:nvPr>
        </p:nvSpPr>
        <p:spPr bwMode="auto"/>
        <p:txBody>
          <a:bodyPr/>
          <a:lstStyle/>
          <a:p>
            <a:pPr>
              <a:defRPr/>
            </a:pPr>
            <a:r>
              <a:rPr lang="en-GB" sz="2600">
                <a:solidFill>
                  <a:schemeClr val="tx1"/>
                </a:solidFill>
                <a:latin typeface="Arial"/>
                <a:ea typeface="Arial"/>
                <a:cs typeface="Arial"/>
              </a:rPr>
              <a:t>Project was simple enough that i did not stumble any major problems. </a:t>
            </a:r>
            <a:r>
              <a:rPr lang="tr-TR" sz="2600">
                <a:solidFill>
                  <a:schemeClr val="tx1"/>
                </a:solidFill>
                <a:latin typeface="Arial"/>
                <a:ea typeface="Arial"/>
                <a:cs typeface="Arial"/>
              </a:rPr>
              <a:t> </a:t>
            </a:r>
            <a:endParaRPr sz="10000"/>
          </a:p>
          <a:p>
            <a:pPr>
              <a:defRPr/>
            </a:pPr>
            <a:endParaRPr sz="2600">
              <a:solidFill>
                <a:schemeClr val="tx1"/>
              </a:solidFill>
              <a:latin typeface="Arial"/>
              <a:ea typeface="Arial"/>
              <a:cs typeface="Arial"/>
            </a:endParaRPr>
          </a:p>
          <a:p>
            <a:pPr>
              <a:defRPr/>
            </a:pPr>
            <a:endParaRPr sz="2600">
              <a:solidFill>
                <a:schemeClr val="tx1"/>
              </a:solidFill>
              <a:latin typeface="Arial"/>
              <a:ea typeface="Arial"/>
              <a:cs typeface="Arial"/>
            </a:endParaRPr>
          </a:p>
          <a:p>
            <a:pPr>
              <a:defRPr/>
            </a:pPr>
            <a:r>
              <a:rPr sz="2600" b="0" i="0" u="none">
                <a:solidFill>
                  <a:schemeClr val="tx1"/>
                </a:solidFill>
                <a:latin typeface="Arial"/>
                <a:ea typeface="Arial"/>
                <a:cs typeface="Arial"/>
              </a:rPr>
              <a:t>Thank you for your attention</a:t>
            </a:r>
            <a:r>
              <a:rPr sz="2600">
                <a:solidFill>
                  <a:schemeClr val="tx1"/>
                </a:solidFill>
                <a:latin typeface="Arial"/>
                <a:ea typeface="Arial"/>
                <a:cs typeface="Arial"/>
              </a:rPr>
              <a:t>!</a:t>
            </a:r>
            <a:endParaRPr sz="2600">
              <a:solidFill>
                <a:schemeClr val="tx1"/>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ONLYOFFICE/9.2.1.43</Application>
  <PresentationFormat>On-screen Show (4:3)</PresentationFormat>
  <Paragraphs>0</Paragraphs>
  <Slides>10</Slides>
  <Notes>10</Notes>
  <HiddenSlides>0</HiddenSlides>
  <MMClips>2</MMClips>
  <ScaleCrop>0</ScaleCrop>
  <HeadingPairs>
    <vt:vector size="4" baseType="variant">
      <vt:variant>
        <vt:lpstr>Theme</vt:lpstr>
      </vt:variant>
      <vt:variant>
        <vt:i4>1</vt:i4>
      </vt:variant>
      <vt:variant>
        <vt:lpstr>Slide Titles</vt:lpstr>
      </vt:variant>
      <vt:variant>
        <vt:i4>10</vt:i4>
      </vt:variant>
    </vt:vector>
  </HeadingPairs>
  <TitlesOfParts>
    <vt:vector size="11" baseType="lpstr">
      <vt:lpstr>Theme 1</vt:lpstr>
      <vt:lpstr>Slide 1</vt:lpstr>
      <vt:lpstr>Slide 2</vt:lpstr>
      <vt:lpstr>Slide 3</vt:lpstr>
      <vt:lpstr>Slide 4</vt:lpstr>
      <vt:lpstr>Slide 5</vt:lpstr>
      <vt:lpstr>Slide 6</vt:lpstr>
      <vt:lpstr>Slide 7</vt:lpstr>
      <vt:lpstr>Slide 8</vt:lpstr>
      <vt:lpstr>Slide 9</vt:lpstr>
      <vt:lpstr>Slide 10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cp:revision>
  <dcterms:created xsi:type="dcterms:W3CDTF">2012-12-03T06:56:55Z</dcterms:created>
  <dcterms:modified xsi:type="dcterms:W3CDTF">2026-01-09T18:49:44Z</dcterms:modified>
</cp:coreProperties>
</file>